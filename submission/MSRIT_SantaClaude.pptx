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E9A8C-3F50-49F8-A835-316C22A1110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3F9-2D09-4642-A3BD-5BF627A06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slide. Team Santa Claude, MSRIT. Add the member email before submitting. File name follows CollegeName_TeamName (deck p12): MSRIT_SantaClaude.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from deck p8 and the Theme 05 guide §1-§5. Scoring weights from guide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gaps paraphrase the Theme 05 problem statement (deck p8): systems 'either go silent while they reason, or throw everything away and start over'. The guide §1 calls the first 'half-duplex'.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docs/ARCHITECTURE.md and the README diagram. Only protocol.py knows the kit's field names, so the official kit is a one-file change. Walk one interruption: interrupt at 1.9 s, cancel on the same tick, new search, late Delhi result dropped as late_after_cancel.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Screenshot: viewer/trace_viewer.html with the s02 trace embedded (bash run_demo.sh). Timings are from runs/demo/scenarios/traces/s02_text_destination_change.jsonl.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Versions and sizes: docs/MULTIMODAL.md, README. CI run: https://github.com/pandeykartik658-del/samsung-hackathon/actions/runs/36743838976 (Docker build with Whisper base.en, real-weights test, 458 tests, demo; image 1.01 GB).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use cases are the guide's §2 list. Latency: bench/runs/profile_after (first spoken action p50 0.69 ms, p95 1.27 ms, 60 scenarios x 3 runs), docs/HARDENING.md.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re-run 2026-09-30: bench/scenarios60 suite 100.0 (TC 40, IR 34.9, LAT 15, SP 10, QM 1.10 mean); held-out seed 20261015 suite 100.0; sim 9/9. Raw media (kit transcripts/labels removed, Whisper + RapidOCR on by default since commit 46f981d): bench suite 87.4, visual 12/12 at 100, public-style 91.3 with 7 of 9 passing; figures from the Whisper/OCR thread. 457 passed + 11 skipped locally, 458 in CI with Whisper weights. Latency from docs/HARDENING.md.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README 'Future work (worklet)' section: about 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viewer/trace_viewer.html, theme5/watchdog.py, bench/gen_scenarios.py, docs/MULTIMODAL.md, theme5/tools.py, docs/HARDENING.md.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 the final commit PRISM_GENAI_HACKATHON_Y2026 and add the video link before submitting (deck p13).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E64-7CE6-4299-B8FE-939866A3E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360C-492F-4E2E-B967-599B2BD3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CDB-78C3-4602-B35C-A826CBF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5EF81-E96A-4C8D-A4F0-A9DF05C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2448-68BE-42AE-8001-48ECE62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5E08-CE8A-45BE-8C3E-C04A49C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CB0C-95AB-4F7A-955D-2DC18750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DA85-2FDE-4136-B9F6-AF096547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0367-ACE7-48B9-82C8-A7BFD1F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A210-6017-4F71-9E78-B2C329B4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E6C5-6752-4963-B842-280808B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DFC-697D-4605-86C0-8572E022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1469-A18C-498E-BACC-28BCBFE9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5D3B-1983-426F-A1AE-7470C43B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ABB1-45F2-4FEA-BB5A-3B053892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F4AE-F142-401B-A5D1-4A52FF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9BD1-2876-4C52-83CF-1CBA9D93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624D8-76A7-478F-ACA3-5749DEFD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A939-0957-4E96-B38D-0B2E39D4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D44E1-B8BA-490F-B30A-538CC4D4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BB79-7CA5-414E-B5B6-6A8E9AE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6CE8-8BA4-4FB1-ACAA-E38F8ED7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0902-F321-482A-924A-FF9A87CA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B6F67-E437-4FE8-851B-B016F33C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E7897-2D17-49F8-8762-68F8D579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E8E8-43BB-400D-8934-6D6B21D3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B6608-03F3-45EF-80BD-C6E305C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5D75D-3AD4-4D0E-A5BC-9000973F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6A546-DC61-467F-A112-3AC0277B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549-E392-4F05-B762-B5370E51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9880-A67D-4A24-9138-E937AE75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6EC7-BFAB-4137-9343-C66B7829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6B929-B579-4261-8171-35357AE9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AFEDF-BA35-4A7C-9388-604C048D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80271-5700-43CC-A9BA-B2AAB47B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12EA-BE6D-4AE5-B09E-215DE5B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6235-A416-4C23-BE8E-8FC1CF0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C36B-7DDF-4371-9F0A-6E5B645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FA19A-E15E-47EA-B9B9-5F7FD0AA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24-CA93-4332-A03F-0909AC52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302F-D853-499A-BB91-3BD5366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AD427-BF9D-4A47-AF08-E4983B9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B540-7747-44F5-A3A4-69F051F3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392B5-0943-4B18-9708-C9FA86F8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FA04-BB4C-4DC0-9831-EB32549F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BDBD-01E1-44D7-AB93-513FF196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7BDB-9CCD-44F3-A4FB-D4BAE589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8D8A-A70C-4D57-8271-DCF5EEF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3EB-C66D-4D2D-9928-25D57CFD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1A17B-5319-4265-82A2-5D286CFAF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2F85-7902-4426-947E-3509F7A0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58F-7DA3-40F3-B6FA-CF740F8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0DE9-130B-4DA8-9A0C-06A295C9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5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94E2-CBC8-4A0C-A110-E3B5A301C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BD2EA-CB7C-4CAB-855D-57F79191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48B0-3CBB-41FA-A8EC-5DFC833D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08DA-D399-4DC8-89B1-C4EBC64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6177-D647-4C5F-BA43-C02A139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7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4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67A62-7E64-4BE9-8EDF-4904E871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3B9-1A82-4479-978C-9C873CC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7FC6-3D78-48A7-A3DB-BFC7C0EA3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C877-1137-446E-919A-C66E31331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8D39-C9B6-4DA9-9C05-38A0ECD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r>
              <a:rPr lang="en-US" sz="20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2026 – 27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 - 05, Interruptible Real-Time Agents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- An assistant you can interrupt mid-task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- Santa Claude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- MSRIT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1- Kartikey Pandey, Primary Data Analyst · [add email]</a:t>
            </a:r>
          </a:p>
          <a:p>
            <a:pPr marL="177800" indent="-1778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Github link - github.com/pandeykartik658-del/samsung-hackathon</a:t>
            </a:r>
            <a:r>
              <a:rPr lang="en-US" sz="1600" dirty="0" err="1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6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US" sz="1600" dirty="0">
              <a:solidFill>
                <a:srgbClr val="6363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Image 0" descr="hero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z="3600">
                <a:solidFill>
                  <a:srgbClr val="704EA6"/>
                </a:solidFill>
                <a:latin typeface="+mn-lt"/>
                <a:cs typeface="Arial" pitchFamily="34" charset="-120"/>
              </a:rPr>
              <a:t>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THE PROBLEM, IN OUR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521208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14142B"/>
                </a:solidFill>
                <a:latin typeface="Calibri"/>
              </a:rPr>
              <a:t>Assistants take turns: listen, think, speak. People don't. They cut in, correct themselves mid-sentence and change the goal while a search or a booking is still running.</a:t>
            </a:r>
          </a:p>
          <a:p>
            <a:pPr algn="l"/>
            <a:r>
              <a:rPr sz="1600" b="0" i="0">
                <a:solidFill>
                  <a:srgbClr val="14142B"/>
                </a:solidFill>
                <a:latin typeface="Calibri"/>
              </a:rPr>
              <a:t>The agent has to keep talking, cancel the work nobody wants any more, re-plan on the new facts, and never repeat a side effect such as a 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51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HOW IT IS SCORED (THEME 05 GUIDE §5)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572000"/>
            <a:ext cx="2048255" cy="56692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93792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3637E"/>
                </a:solidFill>
                <a:latin typeface="Calibri"/>
              </a:rPr>
              <a:t>Task completion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3511" y="4572000"/>
            <a:ext cx="1787652" cy="5669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1" y="5193792"/>
            <a:ext cx="18242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3637E"/>
                </a:solidFill>
                <a:latin typeface="Calibri"/>
              </a:rPr>
              <a:t>Interruption 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7740" y="4572000"/>
            <a:ext cx="745236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4142B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7740" y="51937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3637E"/>
                </a:solidFill>
                <a:latin typeface="Calibri"/>
              </a:rP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9552" y="4572000"/>
            <a:ext cx="484631" cy="566928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14142B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9552" y="51937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3637E"/>
                </a:solidFill>
                <a:latin typeface="Calibri"/>
              </a:rPr>
              <a:t>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× quality multiplier 0.8–1.2.  Audio and visual scenarios weigh 1.5×, and they are about half of the ~60 hidden scenarios.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FIVE THINGS A TURN-BASED BOT NEVER MEETS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011680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748272" y="2194560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057400"/>
            <a:ext cx="3977639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 correction lands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while the search it invalidates is still running.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852928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748272" y="3035808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98648"/>
            <a:ext cx="3977639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 result comes back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for a call the agent already cancelled.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694176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748272" y="3877056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739896"/>
            <a:ext cx="3977639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 booking must never run twice,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across retries, repeats and repairs.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535424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748272" y="4718304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581144"/>
            <a:ext cx="3977639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 tool it has never seen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arrives in the scenario manifest.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376672"/>
            <a:ext cx="4754880" cy="713232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748272" y="5559552"/>
            <a:ext cx="347472" cy="3474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422392"/>
            <a:ext cx="3977639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Audio and camera frames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are slow next to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2564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z="3600">
                <a:solidFill>
                  <a:srgbClr val="704EA6"/>
                </a:solidFill>
                <a:latin typeface="+mn-lt"/>
                <a:cs typeface="Arial" pitchFamily="34" charset="-120"/>
              </a:rPr>
              <a:t>Existing Solutions &amp;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691640"/>
            <a:ext cx="3310128" cy="30632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Half-duplex assistants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Listen, then think, then speak.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C23636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285292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Go silent while they reason. An interruption only lands after the turn ends, so stale work keeps running.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310128" cy="30632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Restart on interrupt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Throw the plan away and start 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0040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C23636"/>
                </a:solidFill>
                <a:latin typeface="Calibri"/>
              </a:rPr>
              <a:t>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285292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Repeat finished work, lose session context, and can send the same booking twice.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310128" cy="30632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An LLM call on every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40"/>
            <a:ext cx="2852928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Every decision waits on a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C23636"/>
                </a:solidFill>
                <a:latin typeface="Calibri"/>
              </a:rPr>
              <a:t>THE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2852928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14142B"/>
                </a:solidFill>
                <a:latin typeface="Calibri"/>
              </a:rPr>
              <a:t>Seconds on the critical path, and no hard guarantee against duplicate writes.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029200"/>
            <a:ext cx="10442448" cy="11887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43000" y="512064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4DCF7"/>
                </a:solidFill>
                <a:latin typeface="Calibri"/>
              </a:rPr>
              <a:t>What we do instead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rule-based fast path answers on the same event tick. A coordination layer cancels only the calls a correction invalidates. An idempotency ledger makes a second identical booking impossible.</a:t>
            </a:r>
          </a:p>
        </p:txBody>
      </p:sp>
    </p:spTree>
    <p:extLst>
      <p:ext uri="{BB962C8B-B14F-4D97-AF65-F5344CB8AC3E}">
        <p14:creationId xmlns:p14="http://schemas.microsoft.com/office/powerpoint/2010/main" val="15499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</p:spPr>
        <p:txBody>
          <a:bodyPr/>
          <a:lstStyle/>
          <a:p>
            <a:r>
              <a:rPr lang="en-IN" b="1" dirty="0" sz="3600">
                <a:solidFill>
                  <a:srgbClr val="704EA6"/>
                </a:solidFill>
                <a:latin typeface="+mn-lt"/>
              </a:rPr>
              <a:t>Our Solutions &amp;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600200"/>
            <a:ext cx="1554480" cy="32461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673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EVALUATION 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" y="2011680"/>
            <a:ext cx="133502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9848" y="2066544"/>
            <a:ext cx="115214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Inbox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timestamped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" y="2880360"/>
            <a:ext cx="133502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9848" y="2935224"/>
            <a:ext cx="115214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Tool executor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mock tools, faults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" y="3749039"/>
            <a:ext cx="1335024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9848" y="3803903"/>
            <a:ext cx="115214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Outbox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783080"/>
            <a:ext cx="1417320" cy="12344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88920" y="1837943"/>
            <a:ext cx="1234440" cy="11247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protocol.py</a:t>
            </a:r>
          </a:p>
          <a:p>
            <a:pPr algn="ctr"/>
            <a:r>
              <a:rPr sz="1000" b="0" i="0">
                <a:solidFill>
                  <a:srgbClr val="E4DCF7"/>
                </a:solidFill>
                <a:latin typeface="Calibri"/>
              </a:rPr>
              <a:t>parse_event: names, units, nesting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429000"/>
            <a:ext cx="1417320" cy="12344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788920" y="3483864"/>
            <a:ext cx="1234440" cy="11247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protocol.py</a:t>
            </a:r>
          </a:p>
          <a:p>
            <a:pPr algn="ctr"/>
            <a:r>
              <a:rPr sz="1000" b="0" i="0">
                <a:solidFill>
                  <a:srgbClr val="E4DCF7"/>
                </a:solidFill>
                <a:latin typeface="Calibri"/>
              </a:rPr>
              <a:t>to_wire: validate + State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83080"/>
            <a:ext cx="155448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59" y="1837943"/>
            <a:ext cx="1371600" cy="27706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Engine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one event loop, ordered dispatch, a single emit(), one task per tool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2514600" cy="32461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7920" y="167335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i="0">
                <a:solidFill>
                  <a:srgbClr val="6D28D9"/>
                </a:solidFill>
                <a:latin typeface="Calibri"/>
              </a:rPr>
              <a:t>FAST PATH  ·  sync, no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011680"/>
            <a:ext cx="2240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2066544"/>
            <a:ext cx="2057400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nlu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repairs, intents, slots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2706624"/>
            <a:ext cx="2240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46520" y="2761488"/>
            <a:ext cx="2057400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state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localised corrections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01568"/>
            <a:ext cx="2240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2057400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planner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manifest-driven, chaining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96511"/>
            <a:ext cx="224028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46520" y="4151375"/>
            <a:ext cx="2057400" cy="49377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nlg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grounded replies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75220" y="2615184"/>
            <a:ext cx="0" cy="9144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75220" y="3310128"/>
            <a:ext cx="0" cy="9144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75220" y="4005072"/>
            <a:ext cx="0" cy="9144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06840" y="1600200"/>
            <a:ext cx="230428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98280" y="1655064"/>
            <a:ext cx="2121408" cy="8961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Coordinator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call registry, cancel tokens, generations, idempotency ledger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715768"/>
            <a:ext cx="230428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98280" y="2770632"/>
            <a:ext cx="2121408" cy="8961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Slow path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Whisper ASR, OCR, optional LLM: cancellable tasks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840480"/>
            <a:ext cx="2304288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98280" y="3895344"/>
            <a:ext cx="2121408" cy="8961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Watchdog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honest final + snapshot at 110 s, before the 120 s cap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13432" y="2377440"/>
            <a:ext cx="384048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14800" y="2377440"/>
            <a:ext cx="274320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0" y="3154680"/>
            <a:ext cx="274320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114800" y="4069080"/>
            <a:ext cx="274320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313432" y="4069080"/>
            <a:ext cx="384048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45920" y="2743200"/>
            <a:ext cx="0" cy="13716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68680" y="5074920"/>
            <a:ext cx="33101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51560" y="5148072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Cancel before speaking</a:t>
            </a:r>
          </a:p>
          <a:p>
            <a:pPr algn="l"/>
            <a:r>
              <a:rPr sz="1150" b="0" i="0">
                <a:solidFill>
                  <a:srgbClr val="14142B"/>
                </a:solidFill>
                <a:latin typeface="Calibri"/>
              </a:rPr>
              <a:t>A correction cancels superseded calls in the same handler, stamped on the same clock tick, before any speech.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074920"/>
            <a:ext cx="33101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617720" y="5148072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Generations drop stale results</a:t>
            </a:r>
          </a:p>
          <a:p>
            <a:pPr algn="l"/>
            <a:r>
              <a:rPr sz="1150" b="0" i="0">
                <a:solidFill>
                  <a:srgbClr val="14142B"/>
                </a:solidFill>
                <a:latin typeface="Calibri"/>
              </a:rPr>
              <a:t>Each re-plan bumps a generation. Late, stale or duplicate results are logged and never reach the planner.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01000" y="5074920"/>
            <a:ext cx="33101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83879" y="5148072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Idempotency ledger</a:t>
            </a:r>
          </a:p>
          <a:p>
            <a:pPr algn="l"/>
            <a:r>
              <a:rPr sz="1150" b="0" i="0">
                <a:solidFill>
                  <a:srgbClr val="14142B"/>
                </a:solidFill>
                <a:latin typeface="Calibri"/>
              </a:rPr>
              <a:t>Writes are keyed on tool + canonical args. A committed key is never sent again; unmarked tools count as writes.</a:t>
            </a:r>
          </a:p>
        </p:txBody>
      </p:sp>
    </p:spTree>
    <p:extLst>
      <p:ext uri="{BB962C8B-B14F-4D97-AF65-F5344CB8AC3E}">
        <p14:creationId xmlns:p14="http://schemas.microsoft.com/office/powerpoint/2010/main" val="257978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z="3600">
                <a:solidFill>
                  <a:srgbClr val="704EA6"/>
                </a:solidFill>
                <a:latin typeface="+mn-lt"/>
              </a:rPr>
              <a:t>Demo &amp; Product Walkthrough</a:t>
            </a:r>
          </a:p>
        </p:txBody>
      </p:sp>
      <p:pic>
        <p:nvPicPr>
          <p:cNvPr id="3" name="Picture 2" descr="s02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6903720" cy="2869359"/>
          </a:xfrm>
          <a:prstGeom prst="rect">
            <a:avLst/>
          </a:prstGeom>
          <a:ln w="12700">
            <a:solidFill>
              <a:srgbClr val="D9D3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868680" y="4606719"/>
            <a:ext cx="6903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63637E"/>
                </a:solidFill>
                <a:latin typeface="Calibri"/>
              </a:rPr>
              <a:t>Trace viewer replaying scenario s02 on the virtual clock, paused just after the interruption.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WHAT THE DEMO VIDEO SHOWS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120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5839" y="523036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Destination change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cancel + re-plan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3260" y="52120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60420" y="523036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Duplicate-booking trap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one booking, not three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521208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0" y="523036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Ambiguous camera frame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asks, then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172200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Video (max 5 min): </a:t>
            </a:r>
            <a:r>
              <a:rPr sz="1100" b="0" i="0">
                <a:solidFill>
                  <a:srgbClr val="63637E"/>
                </a:solidFill>
                <a:latin typeface="Calibri"/>
              </a:rPr>
              <a:t>[add YouTube or Drive link]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SCENARIO S02, SECOND BY SECOND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11680"/>
            <a:ext cx="3218688" cy="1298448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0.4 s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“…to Delhi on October 5th.”</a:t>
            </a:r>
          </a:p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Speaks a progress line, starts flight_search to Delhi.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38144"/>
            <a:ext cx="3218688" cy="1298448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3529584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23636"/>
                </a:solidFill>
                <a:latin typeface="Calibri"/>
              </a:rPr>
              <a:t>1.9 s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“Actually, make that Hyderabad.”</a:t>
            </a:r>
          </a:p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Cancels the Delhi call on the same tick, then searches Hyderabad.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864608"/>
            <a:ext cx="3218688" cy="1298448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20" y="4956048"/>
            <a:ext cx="288036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F805A"/>
                </a:solidFill>
                <a:latin typeface="Calibri"/>
              </a:rPr>
              <a:t>4.9 s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Hyderabad result arrives</a:t>
            </a:r>
          </a:p>
          <a:p>
            <a:pPr algn="l"/>
            <a:r>
              <a:rPr sz="1200" b="0" i="0">
                <a:solidFill>
                  <a:srgbClr val="14142B"/>
                </a:solidFill>
                <a:latin typeface="Calibri"/>
              </a:rPr>
              <a:t>Final answer with 2 flights and a snapshot: destination = Hyderabad.</a:t>
            </a:r>
          </a:p>
        </p:txBody>
      </p:sp>
    </p:spTree>
    <p:extLst>
      <p:ext uri="{BB962C8B-B14F-4D97-AF65-F5344CB8AC3E}">
        <p14:creationId xmlns:p14="http://schemas.microsoft.com/office/powerpoint/2010/main" val="11782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6916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5623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RUNTIME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Python 3.10–3.12, asyncio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Stdlib-only core. One Agent per session, no module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38728" y="16916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721608" y="185623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SPEECH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faster-whisper base.en, int8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Best CPU accuracy per second; CTranslate2, no PyTorch.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6916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91656" y="185623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VISION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RapidOCR (ONNX)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Reads display codes and model labels. Weights ship in the wheel.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9164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61704" y="185623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LANGUAGE MODEL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Optional plug-in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2 s budget with a rule fallback. Never on the fast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06908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423367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TESTING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pytest, 458 tests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Plus protocol fuzzing: 60,000 malformed events, zero crashes.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406908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21608" y="423367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EVALUATION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Own harness + scorer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Virtual-clock sim and a rubric replica with 50 documented assumptions.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06908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91656" y="423367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DELIVERY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Docker, 1.01 GB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Whisper weights baked in, runs offline. python -m theme5 serve for JSONL.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406908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61704" y="4233672"/>
            <a:ext cx="2121408" cy="187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CI AND DEMO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GitHub Actions + trace viewer</a:t>
            </a:r>
          </a:p>
          <a:p>
            <a:pPr algn="l"/>
            <a:r>
              <a:rPr sz="1350" b="0" i="0">
                <a:solidFill>
                  <a:srgbClr val="63637E"/>
                </a:solidFill>
                <a:latin typeface="Calibri"/>
              </a:rPr>
              <a:t>Build, real-weights Whisper test, all tests, demo. Single-file HTML viewer.</a:t>
            </a:r>
          </a:p>
        </p:txBody>
      </p:sp>
    </p:spTree>
    <p:extLst>
      <p:ext uri="{BB962C8B-B14F-4D97-AF65-F5344CB8AC3E}">
        <p14:creationId xmlns:p14="http://schemas.microsoft.com/office/powerpoint/2010/main" val="372482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691640"/>
            <a:ext cx="5129784" cy="160020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In-car, hands-free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4142B"/>
                </a:solidFill>
                <a:latin typeface="Calibri"/>
              </a:rPr>
              <a:t>The destination changes while the route search runs.</a:t>
            </a:r>
          </a:p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The stale call is cancelled on the same tick; its late result is dropped.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691640"/>
            <a:ext cx="5129784" cy="160020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9944" y="182880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Customer support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4142B"/>
                </a:solidFill>
                <a:latin typeface="Calibri"/>
              </a:rPr>
              <a:t>The customer changes details mid-booking.</a:t>
            </a:r>
          </a:p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The ledger blocks a second write; changes go through a modify tool or are refused.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474720"/>
            <a:ext cx="5129784" cy="160020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611879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Field troubleshooting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4142B"/>
                </a:solidFill>
                <a:latin typeface="Calibri"/>
              </a:rPr>
              <a:t>“How do I fix the error on this?” with the camera on.</a:t>
            </a:r>
          </a:p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Frames are grounded into device and error code; an unclear frame gets one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474720"/>
            <a:ext cx="5129784" cy="160020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9944" y="3611879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Accessibility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4142B"/>
                </a:solidFill>
                <a:latin typeface="Calibri"/>
              </a:rPr>
              <a:t>“Delhi, uh, no, Hyderabad.” Hesitations and self-repairs.</a:t>
            </a:r>
          </a:p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Repair parsing changes only the corrected slot and keeps the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49240"/>
            <a:ext cx="10442448" cy="9601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3000" y="5394960"/>
            <a:ext cx="996696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Why it matters for Samsung devices: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phones, cars and appliances need barge-in recovery without a network round trip. Our fast path answers in 0.69 ms (median) and runs offline.</a:t>
            </a:r>
          </a:p>
        </p:txBody>
      </p:sp>
    </p:spTree>
    <p:extLst>
      <p:ext uri="{BB962C8B-B14F-4D97-AF65-F5344CB8AC3E}">
        <p14:creationId xmlns:p14="http://schemas.microsoft.com/office/powerpoint/2010/main" val="366811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645920"/>
            <a:ext cx="2496312" cy="1572768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71907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6D28D9"/>
                </a:solidFill>
                <a:latin typeface="Calibri"/>
              </a:rPr>
              <a:t>100.0</a:t>
            </a:r>
          </a:p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60-scenario adversarial bench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87.4 on raw media only; 100.0 on a held-out seed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7872" y="1645920"/>
            <a:ext cx="2496312" cy="1572768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730752" y="171907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6D28D9"/>
                </a:solidFill>
                <a:latin typeface="Calibri"/>
              </a:rPr>
              <a:t>9 / 9</a:t>
            </a:r>
          </a:p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public-style scenarios pass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91.3 on raw media only (7 of 9 pass)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45920"/>
            <a:ext cx="2496312" cy="1572768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171907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6D28D9"/>
                </a:solidFill>
                <a:latin typeface="Calibri"/>
              </a:rPr>
              <a:t>0.69 ms</a:t>
            </a:r>
          </a:p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median time to first spoken action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p95 1.27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496312" cy="1572768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89136" y="171907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 i="0">
                <a:solidFill>
                  <a:srgbClr val="6D28D9"/>
                </a:solidFill>
                <a:latin typeface="Calibri"/>
              </a:rPr>
              <a:t>0</a:t>
            </a:r>
          </a:p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crashes in 60,000 fuzzed events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malformed, missing, out of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735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A85A00"/>
                </a:solidFill>
                <a:latin typeface="Calibri"/>
              </a:rPr>
              <a:t>All scores come from our own simulator and rubric replica. The official evaluation kit is not released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INNOVATION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8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Diff, don't flush: calls a correction leaves valid are kept, only the rest are cancelled.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Speculative read-only calls on partial turns, adopted or cancelled at end of turn.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300" b="0" i="0">
                <a:solidFill>
                  <a:srgbClr val="14142B"/>
                </a:solidFill>
                <a:latin typeface="Calibri"/>
              </a:rPr>
              <a:t>Every kit guess sits in one adapter file, tagged ASSUMPTION with its unknown number.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657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C23636"/>
                </a:solidFill>
                <a:latin typeface="Calibri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977639"/>
            <a:ext cx="502920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26 wire-format details are guesses until the kit ships.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Self-graded, on scenarios we generated: a regression guard, not a forecast.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Audio on raw media is the weak spot: most misses are garbled flight codes and passenger names. The agent asks instead of guessing, so it makes no wrong bookings. Frames on raw media score 100.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Test audio and frames are synthetic. English only.</a:t>
            </a:r>
          </a:p>
        </p:txBody>
      </p:sp>
    </p:spTree>
    <p:extLst>
      <p:ext uri="{BB962C8B-B14F-4D97-AF65-F5344CB8AC3E}">
        <p14:creationId xmlns:p14="http://schemas.microsoft.com/office/powerpoint/2010/main" val="19932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Worklet: </a:t>
            </a:r>
            <a:r>
              <a:rPr sz="1600" b="1" i="0">
                <a:solidFill>
                  <a:srgbClr val="14142B"/>
                </a:solidFill>
                <a:latin typeface="Calibri"/>
              </a:rPr>
              <a:t>a kit-conformant, learning-assisted interruptible agent for on-device assistants.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97280" y="2606040"/>
            <a:ext cx="9966960" cy="0"/>
          </a:xfrm>
          <a:prstGeom prst="line">
            <a:avLst/>
          </a:prstGeom>
          <a:ln w="381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23957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4963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When the kit 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Fill protocol.py from the real schema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Full Safety &amp; Protocol on the 9 public scenarios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Better speech recognition of flight codes and names</a:t>
            </a:r>
          </a:p>
        </p:txBody>
      </p:sp>
      <p:sp>
        <p:nvSpPr>
          <p:cNvPr id="9" name="Oval 8"/>
          <p:cNvSpPr/>
          <p:nvPr/>
        </p:nvSpPr>
        <p:spPr>
          <a:xfrm>
            <a:off x="3593591" y="23957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971800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MONTH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3246120"/>
            <a:ext cx="24963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Conformance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749039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Kit-verified per-scenario scores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Profiling budgets and fuzzing as CI gates</a:t>
            </a:r>
          </a:p>
        </p:txBody>
      </p:sp>
      <p:sp>
        <p:nvSpPr>
          <p:cNvPr id="13" name="Oval 12"/>
          <p:cNvSpPr/>
          <p:nvPr/>
        </p:nvSpPr>
        <p:spPr>
          <a:xfrm>
            <a:off x="6272784" y="23957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971800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MONTH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3246120"/>
            <a:ext cx="24963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On-device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749039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Distilled intent/slot model under 50 MB behind the plug-in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Streaming ASR feeding speculative reads</a:t>
            </a:r>
          </a:p>
        </p:txBody>
      </p:sp>
      <p:sp>
        <p:nvSpPr>
          <p:cNvPr id="17" name="Oval 16"/>
          <p:cNvSpPr/>
          <p:nvPr/>
        </p:nvSpPr>
        <p:spPr>
          <a:xfrm>
            <a:off x="8951976" y="23957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2971800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MONTH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3246120"/>
            <a:ext cx="249631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Vision and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3749039"/>
            <a:ext cx="237744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Appliance and part detection for manual lookups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Evaluation on kit + our bench, write-up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77840"/>
            <a:ext cx="10442448" cy="7315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97280" y="5596128"/>
            <a:ext cx="10058400" cy="6949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The rule stays: </a:t>
            </a:r>
            <a:r>
              <a:rPr sz="1300" b="0" i="0">
                <a:solidFill>
                  <a:srgbClr val="14142B"/>
                </a:solidFill>
                <a:latin typeface="Calibri"/>
              </a:rPr>
              <a:t>every new model is a plug-in with a timeout and a rule fallback, and the first action stays synchronous.</a:t>
            </a:r>
          </a:p>
        </p:txBody>
      </p:sp>
    </p:spTree>
    <p:extLst>
      <p:ext uri="{BB962C8B-B14F-4D97-AF65-F5344CB8AC3E}">
        <p14:creationId xmlns:p14="http://schemas.microsoft.com/office/powerpoint/2010/main" val="39859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500"/>
              </a:spcAft>
              <a:buSzPct val="100000"/>
            </a:pPr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slide( differentiation)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68680" y="1691640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069848" y="189280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4231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Replay any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807208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 single-file trace viewer plays a run on the virtual clock: calls, cancels, stale results, snapshots.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91640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608576" y="189280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4231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Never times out silently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807208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 watchdog at 110 s cancels open work and gives one honest answer with a valid snapshot.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6136" y="1691640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147304" y="189280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4231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Adversarial 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807208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60 scenarios in 13 families (30 text, 18 audio, 12 visual), scored in about a second.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977639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69848" y="4178807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70915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Ask, don't guess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09320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Low ASR confidence, dark or ambiguous frames and missing parameters get one targeted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3977639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608576" y="4178807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70915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Unseen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509320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The planner reads any manifest and binds arguments by name, type and enum; unmarked tools are treated as writes.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6136" y="3977639"/>
            <a:ext cx="335584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147304" y="4178807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4709159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Fault tolerant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5093207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Retries only on retryable errors, and the ledger still blocks duplicate writes. Fuzzed with 60,000 malformed events.</a:t>
            </a:r>
          </a:p>
        </p:txBody>
      </p:sp>
    </p:spTree>
    <p:extLst>
      <p:ext uri="{BB962C8B-B14F-4D97-AF65-F5344CB8AC3E}">
        <p14:creationId xmlns:p14="http://schemas.microsoft.com/office/powerpoint/2010/main" val="20955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E28A-8ABF-4E15-B9E1-B0F49C0E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z="3600">
                <a:solidFill>
                  <a:srgbClr val="704EA6"/>
                </a:solidFill>
                <a:latin typeface="+mn-lt"/>
              </a:rPr>
              <a:t>Checklist- Updated on Public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3E6F6-9D00-4480-90E6-EC3C876F2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code — public or shared GitHub repo (Y/N): Y, github.com/pandeykartik658-del/samsung-hackathon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reproducible setup instructions (Y/N): Y, plus Dockerfile and CI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max 5 minutes (YouTube or Drive link): [add link]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file (PPT or PDF) (Y/N): Y</a:t>
            </a:r>
            <a:endParaRPr lang="en-US" sz="28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tag PRISM_GENAI_HACKATHON_Y2026 on the final commit: [to do]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69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266</Words>
  <Application>Microsoft Office PowerPoint</Application>
  <PresentationFormat>Widescreen</PresentationFormat>
  <Paragraphs>32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Binny Lakra/PRISM /SRI-Bangalore/Professional/Samsung Electronics</dc:creator>
  <cp:lastModifiedBy>Binny Lakra/PRISM /SRI-Bangalore/Professional/Samsung Electronics</cp:lastModifiedBy>
  <cp:revision>6</cp:revision>
  <dcterms:created xsi:type="dcterms:W3CDTF">2026-09-07T12:01:01Z</dcterms:created>
  <dcterms:modified xsi:type="dcterms:W3CDTF">2026-09-08T10:03:30Z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