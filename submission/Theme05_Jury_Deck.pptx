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Title slide. Fill in team name, college and members before submitting. File name must follow CollegeName_TeamName (deck p12).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statement from deck p8 and the Theme 05 guide §1-§5. Scoring weights from guide §5.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gaps paraphrase the Theme 05 problem statement (deck p8): systems 'either go silent while they reason, or throw everything away and start over'. The guide §1 calls the first 'half-duplex'.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docs/ARCHITECTURE.md and the README diagram. Only protocol.py knows the kit's field names, so the official kit is a one-file change. Walk one interruption: interrupt at 1.9 s, cancel on the same tick, new search, late Delhi result dropped as late_after_cancel.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 viewer/trace_viewer.html with the s02 trace embedded (bash run_demo.sh). Timings are from runs/demo/scenarios/traces/s02_text_destination_change.jsonl.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Versions and sizes: docs/MULTIMODAL.md, README. CI run: https://github.com/pandeykartik658-del/samsung-hackathon/actions/runs/36743838976 (Docker build with Whisper base.en, real-weights test, 458 tests, demo; image 1.01 GB).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use cases are the guide's §2 list. Latency: bench/runs/profile_after (first spoken action p50 0.69 ms, p95 1.27 ms, 60 scenarios x 3 runs), docs/HARDENING.md.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re-run 2026-09-30: bench/scenarios60 suite 100.0 (TC 40, IR 34.9, LAT 15, SP 10, QM 1.10 mean); held-out seed 20261015 suite 100.0; sim 9/9; --strip-oracle suite 78.24 (text 100, audio 54.68, visual 77.3); 457 passed + 11 skipped locally, 458 in CI with Whisper weights. Latency from docs/HARDENING.md.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README 'Future work (worklet)' section: about 3 months.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viewer/trace_viewer.html, theme5/watchdog.py, bench/gen_scenarios.py, docs/MULTIMODAL.md, theme5/tools.py, docs/HARDENING.md.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 the final commit PRISM_GENAI_HACKATHON_Y2026 and add the video link before submitting (deck p13).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- 05, Interruptible Real-Time Agents</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Project Title - An assistant you can interrupt mid-task</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[add team name]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[add college name]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[add]</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 [add]</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[add]</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4- [add]</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Github link - github.com/pandeykartik658-del/samsung-hackathon</a:t>
            </a:r>
            <a:r>
              <a:rPr lang="en-US" sz="1600" dirty="0" err="1">
                <a:solidFill>
                  <a:srgbClr val="63637E"/>
                </a:solidFill>
                <a:latin typeface="Calibri" pitchFamily="34" charset="0"/>
                <a:ea typeface="Calibri" pitchFamily="34" charset="-122"/>
                <a:cs typeface="Calibri" pitchFamily="34" charset="-120"/>
              </a:rPr>
              <a:t/>
            </a:r>
            <a:r>
              <a:rPr lang="en-US" sz="1600" dirty="0">
                <a:solidFill>
                  <a:srgbClr val="63637E"/>
                </a:solidFill>
                <a:latin typeface="Calibri" pitchFamily="34" charset="0"/>
                <a:ea typeface="Calibri" pitchFamily="34" charset="-122"/>
                <a:cs typeface="Calibri" pitchFamily="34" charset="-120"/>
              </a:rPr>
              <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sz="3600">
                <a:solidFill>
                  <a:srgbClr val="704EA6"/>
                </a:solidFill>
                <a:latin typeface="+mn-lt"/>
                <a:cs typeface="Arial" pitchFamily="34" charset="-120"/>
              </a:rPr>
              <a:t>Theme</a:t>
            </a:r>
          </a:p>
        </p:txBody>
      </p:sp>
      <p:sp>
        <p:nvSpPr>
          <p:cNvPr id="3" name="TextBox 2"/>
          <p:cNvSpPr txBox="1"/>
          <p:nvPr/>
        </p:nvSpPr>
        <p:spPr>
          <a:xfrm>
            <a:off x="868680" y="1645920"/>
            <a:ext cx="5303520" cy="274320"/>
          </a:xfrm>
          <a:prstGeom prst="rect">
            <a:avLst/>
          </a:prstGeom>
          <a:noFill/>
        </p:spPr>
        <p:txBody>
          <a:bodyPr wrap="square" lIns="0" rIns="0" tIns="0" bIns="0" anchor="t"/>
          <a:lstStyle/>
          <a:p>
            <a:pPr algn="l"/>
            <a:r>
              <a:rPr sz="1100" b="1" i="0">
                <a:solidFill>
                  <a:srgbClr val="6D28D9"/>
                </a:solidFill>
                <a:latin typeface="Calibri"/>
              </a:rPr>
              <a:t>THE PROBLEM, IN OUR WORDS</a:t>
            </a:r>
          </a:p>
        </p:txBody>
      </p:sp>
      <p:sp>
        <p:nvSpPr>
          <p:cNvPr id="4" name="TextBox 3"/>
          <p:cNvSpPr txBox="1"/>
          <p:nvPr/>
        </p:nvSpPr>
        <p:spPr>
          <a:xfrm>
            <a:off x="868680" y="1965960"/>
            <a:ext cx="5212080" cy="2103120"/>
          </a:xfrm>
          <a:prstGeom prst="rect">
            <a:avLst/>
          </a:prstGeom>
          <a:noFill/>
        </p:spPr>
        <p:txBody>
          <a:bodyPr wrap="square" lIns="0" rIns="0" tIns="0" bIns="0" anchor="t"/>
          <a:lstStyle/>
          <a:p>
            <a:pPr algn="l">
              <a:spcAft>
                <a:spcPts val="1000"/>
              </a:spcAft>
            </a:pPr>
            <a:r>
              <a:rPr sz="1600" b="0" i="0">
                <a:solidFill>
                  <a:srgbClr val="14142B"/>
                </a:solidFill>
                <a:latin typeface="Calibri"/>
              </a:rPr>
              <a:t>Assistants take turns: listen, think, speak. People don't. They cut in, correct themselves mid-sentence and change the goal while a search or a booking is still running.</a:t>
            </a:r>
          </a:p>
          <a:p>
            <a:pPr algn="l"/>
            <a:r>
              <a:rPr sz="1600" b="0" i="0">
                <a:solidFill>
                  <a:srgbClr val="14142B"/>
                </a:solidFill>
                <a:latin typeface="Calibri"/>
              </a:rPr>
              <a:t>The agent has to keep talking, cancel the work nobody wants any more, re-plan on the new facts, and never repeat a side effect such as a booking.</a:t>
            </a:r>
          </a:p>
        </p:txBody>
      </p:sp>
      <p:sp>
        <p:nvSpPr>
          <p:cNvPr id="5" name="TextBox 4"/>
          <p:cNvSpPr txBox="1"/>
          <p:nvPr/>
        </p:nvSpPr>
        <p:spPr>
          <a:xfrm>
            <a:off x="868680" y="4251960"/>
            <a:ext cx="5303520" cy="274320"/>
          </a:xfrm>
          <a:prstGeom prst="rect">
            <a:avLst/>
          </a:prstGeom>
          <a:noFill/>
        </p:spPr>
        <p:txBody>
          <a:bodyPr wrap="square" lIns="0" rIns="0" tIns="0" bIns="0" anchor="t"/>
          <a:lstStyle/>
          <a:p>
            <a:pPr algn="l"/>
            <a:r>
              <a:rPr sz="1100" b="1" i="0">
                <a:solidFill>
                  <a:srgbClr val="6D28D9"/>
                </a:solidFill>
                <a:latin typeface="Calibri"/>
              </a:rPr>
              <a:t>HOW IT IS SCORED (THEME 05 GUIDE §5)</a:t>
            </a:r>
          </a:p>
        </p:txBody>
      </p:sp>
      <p:sp>
        <p:nvSpPr>
          <p:cNvPr id="6" name="Rectangle 5"/>
          <p:cNvSpPr/>
          <p:nvPr/>
        </p:nvSpPr>
        <p:spPr>
          <a:xfrm>
            <a:off x="868680" y="4572000"/>
            <a:ext cx="2048255" cy="56692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40</a:t>
            </a:r>
          </a:p>
        </p:txBody>
      </p:sp>
      <p:sp>
        <p:nvSpPr>
          <p:cNvPr id="7" name="TextBox 6"/>
          <p:cNvSpPr txBox="1"/>
          <p:nvPr/>
        </p:nvSpPr>
        <p:spPr>
          <a:xfrm>
            <a:off x="868680" y="5193792"/>
            <a:ext cx="2084831" cy="274320"/>
          </a:xfrm>
          <a:prstGeom prst="rect">
            <a:avLst/>
          </a:prstGeom>
          <a:noFill/>
        </p:spPr>
        <p:txBody>
          <a:bodyPr wrap="square" lIns="0" rIns="0" tIns="0" bIns="0" anchor="t"/>
          <a:lstStyle/>
          <a:p>
            <a:pPr algn="l"/>
            <a:r>
              <a:rPr sz="1000" b="0" i="0">
                <a:solidFill>
                  <a:srgbClr val="63637E"/>
                </a:solidFill>
                <a:latin typeface="Calibri"/>
              </a:rPr>
              <a:t>Task completion</a:t>
            </a:r>
          </a:p>
        </p:txBody>
      </p:sp>
      <p:sp>
        <p:nvSpPr>
          <p:cNvPr id="8" name="Rectangle 7"/>
          <p:cNvSpPr/>
          <p:nvPr/>
        </p:nvSpPr>
        <p:spPr>
          <a:xfrm>
            <a:off x="2953511" y="4572000"/>
            <a:ext cx="1787652" cy="56692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Calibri"/>
              </a:rPr>
              <a:t>35</a:t>
            </a:r>
          </a:p>
        </p:txBody>
      </p:sp>
      <p:sp>
        <p:nvSpPr>
          <p:cNvPr id="9" name="TextBox 8"/>
          <p:cNvSpPr txBox="1"/>
          <p:nvPr/>
        </p:nvSpPr>
        <p:spPr>
          <a:xfrm>
            <a:off x="2953511" y="5193792"/>
            <a:ext cx="1824228" cy="274320"/>
          </a:xfrm>
          <a:prstGeom prst="rect">
            <a:avLst/>
          </a:prstGeom>
          <a:noFill/>
        </p:spPr>
        <p:txBody>
          <a:bodyPr wrap="square" lIns="0" rIns="0" tIns="0" bIns="0" anchor="t"/>
          <a:lstStyle/>
          <a:p>
            <a:pPr algn="l"/>
            <a:r>
              <a:rPr sz="1000" b="0" i="0">
                <a:solidFill>
                  <a:srgbClr val="63637E"/>
                </a:solidFill>
                <a:latin typeface="Calibri"/>
              </a:rPr>
              <a:t>Interruption recovery</a:t>
            </a:r>
          </a:p>
        </p:txBody>
      </p:sp>
      <p:sp>
        <p:nvSpPr>
          <p:cNvPr id="10" name="Rectangle 9"/>
          <p:cNvSpPr/>
          <p:nvPr/>
        </p:nvSpPr>
        <p:spPr>
          <a:xfrm>
            <a:off x="4777740" y="4572000"/>
            <a:ext cx="745236" cy="566928"/>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14142B"/>
                </a:solidFill>
                <a:latin typeface="Calibri"/>
              </a:rPr>
              <a:t>15</a:t>
            </a:r>
          </a:p>
        </p:txBody>
      </p:sp>
      <p:sp>
        <p:nvSpPr>
          <p:cNvPr id="11" name="TextBox 10"/>
          <p:cNvSpPr txBox="1"/>
          <p:nvPr/>
        </p:nvSpPr>
        <p:spPr>
          <a:xfrm>
            <a:off x="4777740" y="5193792"/>
            <a:ext cx="822960" cy="274320"/>
          </a:xfrm>
          <a:prstGeom prst="rect">
            <a:avLst/>
          </a:prstGeom>
          <a:noFill/>
        </p:spPr>
        <p:txBody>
          <a:bodyPr wrap="square" lIns="0" rIns="0" tIns="0" bIns="0" anchor="t"/>
          <a:lstStyle/>
          <a:p>
            <a:pPr algn="l"/>
            <a:r>
              <a:rPr sz="1000" b="0" i="0">
                <a:solidFill>
                  <a:srgbClr val="63637E"/>
                </a:solidFill>
                <a:latin typeface="Calibri"/>
              </a:rPr>
              <a:t>Latency</a:t>
            </a:r>
          </a:p>
        </p:txBody>
      </p:sp>
      <p:sp>
        <p:nvSpPr>
          <p:cNvPr id="12" name="Rectangle 11"/>
          <p:cNvSpPr/>
          <p:nvPr/>
        </p:nvSpPr>
        <p:spPr>
          <a:xfrm>
            <a:off x="5559552" y="4572000"/>
            <a:ext cx="484631" cy="566928"/>
          </a:xfrm>
          <a:prstGeom prst="rect">
            <a:avLst/>
          </a:prstGeom>
          <a:solidFill>
            <a:srgbClr val="C4B5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14142B"/>
                </a:solidFill>
                <a:latin typeface="Calibri"/>
              </a:rPr>
              <a:t>10</a:t>
            </a:r>
          </a:p>
        </p:txBody>
      </p:sp>
      <p:sp>
        <p:nvSpPr>
          <p:cNvPr id="13" name="TextBox 12"/>
          <p:cNvSpPr txBox="1"/>
          <p:nvPr/>
        </p:nvSpPr>
        <p:spPr>
          <a:xfrm>
            <a:off x="5559552" y="5193792"/>
            <a:ext cx="822960" cy="274320"/>
          </a:xfrm>
          <a:prstGeom prst="rect">
            <a:avLst/>
          </a:prstGeom>
          <a:noFill/>
        </p:spPr>
        <p:txBody>
          <a:bodyPr wrap="square" lIns="0" rIns="0" tIns="0" bIns="0" anchor="t"/>
          <a:lstStyle/>
          <a:p>
            <a:pPr algn="l"/>
            <a:r>
              <a:rPr sz="1000" b="0" i="0">
                <a:solidFill>
                  <a:srgbClr val="63637E"/>
                </a:solidFill>
                <a:latin typeface="Calibri"/>
              </a:rPr>
              <a:t>Safety</a:t>
            </a:r>
          </a:p>
        </p:txBody>
      </p:sp>
      <p:sp>
        <p:nvSpPr>
          <p:cNvPr id="14" name="TextBox 13"/>
          <p:cNvSpPr txBox="1"/>
          <p:nvPr/>
        </p:nvSpPr>
        <p:spPr>
          <a:xfrm>
            <a:off x="868680" y="5623560"/>
            <a:ext cx="5212080" cy="548640"/>
          </a:xfrm>
          <a:prstGeom prst="rect">
            <a:avLst/>
          </a:prstGeom>
          <a:noFill/>
        </p:spPr>
        <p:txBody>
          <a:bodyPr wrap="square" lIns="0" rIns="0" tIns="0" bIns="0" anchor="t"/>
          <a:lstStyle/>
          <a:p>
            <a:pPr algn="l"/>
            <a:r>
              <a:rPr sz="1200" b="0" i="0">
                <a:solidFill>
                  <a:srgbClr val="63637E"/>
                </a:solidFill>
                <a:latin typeface="Calibri"/>
              </a:rPr>
              <a:t>× quality multiplier 0.8–1.2.  Audio and visual scenarios weigh 1.5×, and they are about half of the ~60 hidden scenarios.</a:t>
            </a:r>
          </a:p>
        </p:txBody>
      </p:sp>
      <p:sp>
        <p:nvSpPr>
          <p:cNvPr id="15" name="TextBox 14"/>
          <p:cNvSpPr txBox="1"/>
          <p:nvPr/>
        </p:nvSpPr>
        <p:spPr>
          <a:xfrm>
            <a:off x="6583680" y="1645920"/>
            <a:ext cx="4754880" cy="274320"/>
          </a:xfrm>
          <a:prstGeom prst="rect">
            <a:avLst/>
          </a:prstGeom>
          <a:noFill/>
        </p:spPr>
        <p:txBody>
          <a:bodyPr wrap="square" lIns="0" rIns="0" tIns="0" bIns="0" anchor="t"/>
          <a:lstStyle/>
          <a:p>
            <a:pPr algn="l"/>
            <a:r>
              <a:rPr sz="1100" b="1" i="0">
                <a:solidFill>
                  <a:srgbClr val="6D28D9"/>
                </a:solidFill>
                <a:latin typeface="Calibri"/>
              </a:rPr>
              <a:t>FIVE THINGS A TURN-BASED BOT NEVER MEETS</a:t>
            </a:r>
          </a:p>
        </p:txBody>
      </p:sp>
      <p:sp>
        <p:nvSpPr>
          <p:cNvPr id="16" name="Rounded Rectangle 15"/>
          <p:cNvSpPr/>
          <p:nvPr/>
        </p:nvSpPr>
        <p:spPr>
          <a:xfrm>
            <a:off x="6583680" y="2011680"/>
            <a:ext cx="4754880" cy="713232"/>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748272" y="2194560"/>
            <a:ext cx="347472" cy="347472"/>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1</a:t>
            </a:r>
          </a:p>
        </p:txBody>
      </p:sp>
      <p:sp>
        <p:nvSpPr>
          <p:cNvPr id="18" name="TextBox 17"/>
          <p:cNvSpPr txBox="1"/>
          <p:nvPr/>
        </p:nvSpPr>
        <p:spPr>
          <a:xfrm>
            <a:off x="7269480" y="2057400"/>
            <a:ext cx="3977639" cy="621792"/>
          </a:xfrm>
          <a:prstGeom prst="rect">
            <a:avLst/>
          </a:prstGeom>
          <a:noFill/>
        </p:spPr>
        <p:txBody>
          <a:bodyPr wrap="square" lIns="0" rIns="0" tIns="0" bIns="0" anchor="ctr"/>
          <a:lstStyle/>
          <a:p>
            <a:pPr algn="l"/>
            <a:r>
              <a:rPr sz="1400" b="1" i="0">
                <a:solidFill>
                  <a:srgbClr val="14142B"/>
                </a:solidFill>
                <a:latin typeface="Calibri"/>
              </a:rPr>
              <a:t>A correction lands </a:t>
            </a:r>
            <a:r>
              <a:rPr sz="1400" b="0" i="0">
                <a:solidFill>
                  <a:srgbClr val="14142B"/>
                </a:solidFill>
                <a:latin typeface="Calibri"/>
              </a:rPr>
              <a:t>while the search it invalidates is still running.</a:t>
            </a:r>
          </a:p>
        </p:txBody>
      </p:sp>
      <p:sp>
        <p:nvSpPr>
          <p:cNvPr id="19" name="Rounded Rectangle 18"/>
          <p:cNvSpPr/>
          <p:nvPr/>
        </p:nvSpPr>
        <p:spPr>
          <a:xfrm>
            <a:off x="6583680" y="2852928"/>
            <a:ext cx="4754880" cy="713232"/>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748272" y="3035808"/>
            <a:ext cx="347472" cy="347472"/>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2</a:t>
            </a:r>
          </a:p>
        </p:txBody>
      </p:sp>
      <p:sp>
        <p:nvSpPr>
          <p:cNvPr id="21" name="TextBox 20"/>
          <p:cNvSpPr txBox="1"/>
          <p:nvPr/>
        </p:nvSpPr>
        <p:spPr>
          <a:xfrm>
            <a:off x="7269480" y="2898648"/>
            <a:ext cx="3977639" cy="621792"/>
          </a:xfrm>
          <a:prstGeom prst="rect">
            <a:avLst/>
          </a:prstGeom>
          <a:noFill/>
        </p:spPr>
        <p:txBody>
          <a:bodyPr wrap="square" lIns="0" rIns="0" tIns="0" bIns="0" anchor="ctr"/>
          <a:lstStyle/>
          <a:p>
            <a:pPr algn="l"/>
            <a:r>
              <a:rPr sz="1400" b="1" i="0">
                <a:solidFill>
                  <a:srgbClr val="14142B"/>
                </a:solidFill>
                <a:latin typeface="Calibri"/>
              </a:rPr>
              <a:t>A result comes back </a:t>
            </a:r>
            <a:r>
              <a:rPr sz="1400" b="0" i="0">
                <a:solidFill>
                  <a:srgbClr val="14142B"/>
                </a:solidFill>
                <a:latin typeface="Calibri"/>
              </a:rPr>
              <a:t>for a call the agent already cancelled.</a:t>
            </a:r>
          </a:p>
        </p:txBody>
      </p:sp>
      <p:sp>
        <p:nvSpPr>
          <p:cNvPr id="22" name="Rounded Rectangle 21"/>
          <p:cNvSpPr/>
          <p:nvPr/>
        </p:nvSpPr>
        <p:spPr>
          <a:xfrm>
            <a:off x="6583680" y="3694176"/>
            <a:ext cx="4754880" cy="713232"/>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748272" y="3877056"/>
            <a:ext cx="347472" cy="347472"/>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3</a:t>
            </a:r>
          </a:p>
        </p:txBody>
      </p:sp>
      <p:sp>
        <p:nvSpPr>
          <p:cNvPr id="24" name="TextBox 23"/>
          <p:cNvSpPr txBox="1"/>
          <p:nvPr/>
        </p:nvSpPr>
        <p:spPr>
          <a:xfrm>
            <a:off x="7269480" y="3739896"/>
            <a:ext cx="3977639" cy="621792"/>
          </a:xfrm>
          <a:prstGeom prst="rect">
            <a:avLst/>
          </a:prstGeom>
          <a:noFill/>
        </p:spPr>
        <p:txBody>
          <a:bodyPr wrap="square" lIns="0" rIns="0" tIns="0" bIns="0" anchor="ctr"/>
          <a:lstStyle/>
          <a:p>
            <a:pPr algn="l"/>
            <a:r>
              <a:rPr sz="1400" b="1" i="0">
                <a:solidFill>
                  <a:srgbClr val="14142B"/>
                </a:solidFill>
                <a:latin typeface="Calibri"/>
              </a:rPr>
              <a:t>A booking must never run twice, </a:t>
            </a:r>
            <a:r>
              <a:rPr sz="1400" b="0" i="0">
                <a:solidFill>
                  <a:srgbClr val="14142B"/>
                </a:solidFill>
                <a:latin typeface="Calibri"/>
              </a:rPr>
              <a:t>across retries, repeats and repairs.</a:t>
            </a:r>
          </a:p>
        </p:txBody>
      </p:sp>
      <p:sp>
        <p:nvSpPr>
          <p:cNvPr id="25" name="Rounded Rectangle 24"/>
          <p:cNvSpPr/>
          <p:nvPr/>
        </p:nvSpPr>
        <p:spPr>
          <a:xfrm>
            <a:off x="6583680" y="4535424"/>
            <a:ext cx="4754880" cy="713232"/>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748272" y="4718304"/>
            <a:ext cx="347472" cy="347472"/>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4</a:t>
            </a:r>
          </a:p>
        </p:txBody>
      </p:sp>
      <p:sp>
        <p:nvSpPr>
          <p:cNvPr id="27" name="TextBox 26"/>
          <p:cNvSpPr txBox="1"/>
          <p:nvPr/>
        </p:nvSpPr>
        <p:spPr>
          <a:xfrm>
            <a:off x="7269480" y="4581144"/>
            <a:ext cx="3977639" cy="621792"/>
          </a:xfrm>
          <a:prstGeom prst="rect">
            <a:avLst/>
          </a:prstGeom>
          <a:noFill/>
        </p:spPr>
        <p:txBody>
          <a:bodyPr wrap="square" lIns="0" rIns="0" tIns="0" bIns="0" anchor="ctr"/>
          <a:lstStyle/>
          <a:p>
            <a:pPr algn="l"/>
            <a:r>
              <a:rPr sz="1400" b="1" i="0">
                <a:solidFill>
                  <a:srgbClr val="14142B"/>
                </a:solidFill>
                <a:latin typeface="Calibri"/>
              </a:rPr>
              <a:t>A tool it has never seen </a:t>
            </a:r>
            <a:r>
              <a:rPr sz="1400" b="0" i="0">
                <a:solidFill>
                  <a:srgbClr val="14142B"/>
                </a:solidFill>
                <a:latin typeface="Calibri"/>
              </a:rPr>
              <a:t>arrives in the scenario manifest.</a:t>
            </a:r>
          </a:p>
        </p:txBody>
      </p:sp>
      <p:sp>
        <p:nvSpPr>
          <p:cNvPr id="28" name="Rounded Rectangle 27"/>
          <p:cNvSpPr/>
          <p:nvPr/>
        </p:nvSpPr>
        <p:spPr>
          <a:xfrm>
            <a:off x="6583680" y="5376672"/>
            <a:ext cx="4754880" cy="713232"/>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748272" y="5559552"/>
            <a:ext cx="347472" cy="347472"/>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5</a:t>
            </a:r>
          </a:p>
        </p:txBody>
      </p:sp>
      <p:sp>
        <p:nvSpPr>
          <p:cNvPr id="30" name="TextBox 29"/>
          <p:cNvSpPr txBox="1"/>
          <p:nvPr/>
        </p:nvSpPr>
        <p:spPr>
          <a:xfrm>
            <a:off x="7269480" y="5422392"/>
            <a:ext cx="3977639" cy="621792"/>
          </a:xfrm>
          <a:prstGeom prst="rect">
            <a:avLst/>
          </a:prstGeom>
          <a:noFill/>
        </p:spPr>
        <p:txBody>
          <a:bodyPr wrap="square" lIns="0" rIns="0" tIns="0" bIns="0" anchor="ctr"/>
          <a:lstStyle/>
          <a:p>
            <a:pPr algn="l"/>
            <a:r>
              <a:rPr sz="1400" b="1" i="0">
                <a:solidFill>
                  <a:srgbClr val="14142B"/>
                </a:solidFill>
                <a:latin typeface="Calibri"/>
              </a:rPr>
              <a:t>Audio and camera frames </a:t>
            </a:r>
            <a:r>
              <a:rPr sz="1400" b="0" i="0">
                <a:solidFill>
                  <a:srgbClr val="14142B"/>
                </a:solidFill>
                <a:latin typeface="Calibri"/>
              </a:rPr>
              <a:t>are slow next to the conversation.</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sz="3600">
                <a:solidFill>
                  <a:srgbClr val="704EA6"/>
                </a:solidFill>
                <a:latin typeface="+mn-lt"/>
                <a:cs typeface="Arial" pitchFamily="34" charset="-120"/>
              </a:rPr>
              <a:t>Existing Solutions &amp; Gaps</a:t>
            </a:r>
          </a:p>
        </p:txBody>
      </p:sp>
      <p:sp>
        <p:nvSpPr>
          <p:cNvPr id="3" name="Rounded Rectangle 2"/>
          <p:cNvSpPr/>
          <p:nvPr/>
        </p:nvSpPr>
        <p:spPr>
          <a:xfrm>
            <a:off x="868680" y="1691640"/>
            <a:ext cx="3310128" cy="306324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97280" y="1828800"/>
            <a:ext cx="2852928" cy="457200"/>
          </a:xfrm>
          <a:prstGeom prst="rect">
            <a:avLst/>
          </a:prstGeom>
          <a:noFill/>
        </p:spPr>
        <p:txBody>
          <a:bodyPr wrap="square" lIns="0" rIns="0" tIns="0" bIns="0" anchor="t"/>
          <a:lstStyle/>
          <a:p>
            <a:pPr algn="l"/>
            <a:r>
              <a:rPr sz="1700" b="1" i="0">
                <a:solidFill>
                  <a:srgbClr val="14142B"/>
                </a:solidFill>
                <a:latin typeface="Calibri"/>
              </a:rPr>
              <a:t>Half-duplex assistants</a:t>
            </a:r>
          </a:p>
        </p:txBody>
      </p:sp>
      <p:sp>
        <p:nvSpPr>
          <p:cNvPr id="5" name="TextBox 4"/>
          <p:cNvSpPr txBox="1"/>
          <p:nvPr/>
        </p:nvSpPr>
        <p:spPr>
          <a:xfrm>
            <a:off x="1097280" y="2331720"/>
            <a:ext cx="2852928" cy="274320"/>
          </a:xfrm>
          <a:prstGeom prst="rect">
            <a:avLst/>
          </a:prstGeom>
          <a:noFill/>
        </p:spPr>
        <p:txBody>
          <a:bodyPr wrap="square" lIns="0" rIns="0" tIns="0" bIns="0" anchor="t"/>
          <a:lstStyle/>
          <a:p>
            <a:pPr algn="l"/>
            <a:r>
              <a:rPr sz="1000" b="1" i="0">
                <a:solidFill>
                  <a:srgbClr val="63637E"/>
                </a:solidFill>
                <a:latin typeface="Calibri"/>
              </a:rPr>
              <a:t>HOW IT WORKS</a:t>
            </a:r>
          </a:p>
        </p:txBody>
      </p:sp>
      <p:sp>
        <p:nvSpPr>
          <p:cNvPr id="6" name="TextBox 5"/>
          <p:cNvSpPr txBox="1"/>
          <p:nvPr/>
        </p:nvSpPr>
        <p:spPr>
          <a:xfrm>
            <a:off x="1097280" y="2606040"/>
            <a:ext cx="2852928" cy="548640"/>
          </a:xfrm>
          <a:prstGeom prst="rect">
            <a:avLst/>
          </a:prstGeom>
          <a:noFill/>
        </p:spPr>
        <p:txBody>
          <a:bodyPr wrap="square" lIns="0" rIns="0" tIns="0" bIns="0" anchor="t"/>
          <a:lstStyle/>
          <a:p>
            <a:pPr algn="l"/>
            <a:r>
              <a:rPr sz="1400" b="0" i="0">
                <a:solidFill>
                  <a:srgbClr val="14142B"/>
                </a:solidFill>
                <a:latin typeface="Calibri"/>
              </a:rPr>
              <a:t>Listen, then think, then speak.</a:t>
            </a:r>
          </a:p>
        </p:txBody>
      </p:sp>
      <p:sp>
        <p:nvSpPr>
          <p:cNvPr id="7" name="TextBox 6"/>
          <p:cNvSpPr txBox="1"/>
          <p:nvPr/>
        </p:nvSpPr>
        <p:spPr>
          <a:xfrm>
            <a:off x="1097280" y="3200400"/>
            <a:ext cx="2852928" cy="274320"/>
          </a:xfrm>
          <a:prstGeom prst="rect">
            <a:avLst/>
          </a:prstGeom>
          <a:noFill/>
        </p:spPr>
        <p:txBody>
          <a:bodyPr wrap="square" lIns="0" rIns="0" tIns="0" bIns="0" anchor="t"/>
          <a:lstStyle/>
          <a:p>
            <a:pPr algn="l"/>
            <a:r>
              <a:rPr sz="1000" b="1" i="0">
                <a:solidFill>
                  <a:srgbClr val="C23636"/>
                </a:solidFill>
                <a:latin typeface="Calibri"/>
              </a:rPr>
              <a:t>THE GAP</a:t>
            </a:r>
          </a:p>
        </p:txBody>
      </p:sp>
      <p:sp>
        <p:nvSpPr>
          <p:cNvPr id="8" name="TextBox 7"/>
          <p:cNvSpPr txBox="1"/>
          <p:nvPr/>
        </p:nvSpPr>
        <p:spPr>
          <a:xfrm>
            <a:off x="1097280" y="3474720"/>
            <a:ext cx="2852928" cy="1188720"/>
          </a:xfrm>
          <a:prstGeom prst="rect">
            <a:avLst/>
          </a:prstGeom>
          <a:noFill/>
        </p:spPr>
        <p:txBody>
          <a:bodyPr wrap="square" lIns="0" rIns="0" tIns="0" bIns="0" anchor="t"/>
          <a:lstStyle/>
          <a:p>
            <a:pPr algn="l"/>
            <a:r>
              <a:rPr sz="1400" b="0" i="0">
                <a:solidFill>
                  <a:srgbClr val="14142B"/>
                </a:solidFill>
                <a:latin typeface="Calibri"/>
              </a:rPr>
              <a:t>Go silent while they reason. An interruption only lands after the turn ends, so stale work keeps running.</a:t>
            </a:r>
          </a:p>
        </p:txBody>
      </p:sp>
      <p:sp>
        <p:nvSpPr>
          <p:cNvPr id="9" name="Rounded Rectangle 8"/>
          <p:cNvSpPr/>
          <p:nvPr/>
        </p:nvSpPr>
        <p:spPr>
          <a:xfrm>
            <a:off x="4434840" y="1691640"/>
            <a:ext cx="3310128" cy="306324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63440" y="1828800"/>
            <a:ext cx="2852928" cy="457200"/>
          </a:xfrm>
          <a:prstGeom prst="rect">
            <a:avLst/>
          </a:prstGeom>
          <a:noFill/>
        </p:spPr>
        <p:txBody>
          <a:bodyPr wrap="square" lIns="0" rIns="0" tIns="0" bIns="0" anchor="t"/>
          <a:lstStyle/>
          <a:p>
            <a:pPr algn="l"/>
            <a:r>
              <a:rPr sz="1700" b="1" i="0">
                <a:solidFill>
                  <a:srgbClr val="14142B"/>
                </a:solidFill>
                <a:latin typeface="Calibri"/>
              </a:rPr>
              <a:t>Restart on interrupt</a:t>
            </a:r>
          </a:p>
        </p:txBody>
      </p:sp>
      <p:sp>
        <p:nvSpPr>
          <p:cNvPr id="11" name="TextBox 10"/>
          <p:cNvSpPr txBox="1"/>
          <p:nvPr/>
        </p:nvSpPr>
        <p:spPr>
          <a:xfrm>
            <a:off x="4663440" y="2331720"/>
            <a:ext cx="2852928" cy="274320"/>
          </a:xfrm>
          <a:prstGeom prst="rect">
            <a:avLst/>
          </a:prstGeom>
          <a:noFill/>
        </p:spPr>
        <p:txBody>
          <a:bodyPr wrap="square" lIns="0" rIns="0" tIns="0" bIns="0" anchor="t"/>
          <a:lstStyle/>
          <a:p>
            <a:pPr algn="l"/>
            <a:r>
              <a:rPr sz="1000" b="1" i="0">
                <a:solidFill>
                  <a:srgbClr val="63637E"/>
                </a:solidFill>
                <a:latin typeface="Calibri"/>
              </a:rPr>
              <a:t>HOW IT WORKS</a:t>
            </a:r>
          </a:p>
        </p:txBody>
      </p:sp>
      <p:sp>
        <p:nvSpPr>
          <p:cNvPr id="12" name="TextBox 11"/>
          <p:cNvSpPr txBox="1"/>
          <p:nvPr/>
        </p:nvSpPr>
        <p:spPr>
          <a:xfrm>
            <a:off x="4663440" y="2606040"/>
            <a:ext cx="2852928" cy="548640"/>
          </a:xfrm>
          <a:prstGeom prst="rect">
            <a:avLst/>
          </a:prstGeom>
          <a:noFill/>
        </p:spPr>
        <p:txBody>
          <a:bodyPr wrap="square" lIns="0" rIns="0" tIns="0" bIns="0" anchor="t"/>
          <a:lstStyle/>
          <a:p>
            <a:pPr algn="l"/>
            <a:r>
              <a:rPr sz="1400" b="0" i="0">
                <a:solidFill>
                  <a:srgbClr val="14142B"/>
                </a:solidFill>
                <a:latin typeface="Calibri"/>
              </a:rPr>
              <a:t>Throw the plan away and start over.</a:t>
            </a:r>
          </a:p>
        </p:txBody>
      </p:sp>
      <p:sp>
        <p:nvSpPr>
          <p:cNvPr id="13" name="TextBox 12"/>
          <p:cNvSpPr txBox="1"/>
          <p:nvPr/>
        </p:nvSpPr>
        <p:spPr>
          <a:xfrm>
            <a:off x="4663440" y="3200400"/>
            <a:ext cx="2852928" cy="274320"/>
          </a:xfrm>
          <a:prstGeom prst="rect">
            <a:avLst/>
          </a:prstGeom>
          <a:noFill/>
        </p:spPr>
        <p:txBody>
          <a:bodyPr wrap="square" lIns="0" rIns="0" tIns="0" bIns="0" anchor="t"/>
          <a:lstStyle/>
          <a:p>
            <a:pPr algn="l"/>
            <a:r>
              <a:rPr sz="1000" b="1" i="0">
                <a:solidFill>
                  <a:srgbClr val="C23636"/>
                </a:solidFill>
                <a:latin typeface="Calibri"/>
              </a:rPr>
              <a:t>THE GAP</a:t>
            </a:r>
          </a:p>
        </p:txBody>
      </p:sp>
      <p:sp>
        <p:nvSpPr>
          <p:cNvPr id="14" name="TextBox 13"/>
          <p:cNvSpPr txBox="1"/>
          <p:nvPr/>
        </p:nvSpPr>
        <p:spPr>
          <a:xfrm>
            <a:off x="4663440" y="3474720"/>
            <a:ext cx="2852928" cy="1188720"/>
          </a:xfrm>
          <a:prstGeom prst="rect">
            <a:avLst/>
          </a:prstGeom>
          <a:noFill/>
        </p:spPr>
        <p:txBody>
          <a:bodyPr wrap="square" lIns="0" rIns="0" tIns="0" bIns="0" anchor="t"/>
          <a:lstStyle/>
          <a:p>
            <a:pPr algn="l"/>
            <a:r>
              <a:rPr sz="1400" b="0" i="0">
                <a:solidFill>
                  <a:srgbClr val="14142B"/>
                </a:solidFill>
                <a:latin typeface="Calibri"/>
              </a:rPr>
              <a:t>Repeat finished work, lose session context, and can send the same booking twice.</a:t>
            </a:r>
          </a:p>
        </p:txBody>
      </p:sp>
      <p:sp>
        <p:nvSpPr>
          <p:cNvPr id="15" name="Rounded Rectangle 14"/>
          <p:cNvSpPr/>
          <p:nvPr/>
        </p:nvSpPr>
        <p:spPr>
          <a:xfrm>
            <a:off x="8001000" y="1691640"/>
            <a:ext cx="3310128" cy="306324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29600" y="1828800"/>
            <a:ext cx="2852928" cy="457200"/>
          </a:xfrm>
          <a:prstGeom prst="rect">
            <a:avLst/>
          </a:prstGeom>
          <a:noFill/>
        </p:spPr>
        <p:txBody>
          <a:bodyPr wrap="square" lIns="0" rIns="0" tIns="0" bIns="0" anchor="t"/>
          <a:lstStyle/>
          <a:p>
            <a:pPr algn="l"/>
            <a:r>
              <a:rPr sz="1700" b="1" i="0">
                <a:solidFill>
                  <a:srgbClr val="14142B"/>
                </a:solidFill>
                <a:latin typeface="Calibri"/>
              </a:rPr>
              <a:t>An LLM call on every step</a:t>
            </a:r>
          </a:p>
        </p:txBody>
      </p:sp>
      <p:sp>
        <p:nvSpPr>
          <p:cNvPr id="17" name="TextBox 16"/>
          <p:cNvSpPr txBox="1"/>
          <p:nvPr/>
        </p:nvSpPr>
        <p:spPr>
          <a:xfrm>
            <a:off x="8229600" y="2331720"/>
            <a:ext cx="2852928" cy="274320"/>
          </a:xfrm>
          <a:prstGeom prst="rect">
            <a:avLst/>
          </a:prstGeom>
          <a:noFill/>
        </p:spPr>
        <p:txBody>
          <a:bodyPr wrap="square" lIns="0" rIns="0" tIns="0" bIns="0" anchor="t"/>
          <a:lstStyle/>
          <a:p>
            <a:pPr algn="l"/>
            <a:r>
              <a:rPr sz="1000" b="1" i="0">
                <a:solidFill>
                  <a:srgbClr val="63637E"/>
                </a:solidFill>
                <a:latin typeface="Calibri"/>
              </a:rPr>
              <a:t>HOW IT WORKS</a:t>
            </a:r>
          </a:p>
        </p:txBody>
      </p:sp>
      <p:sp>
        <p:nvSpPr>
          <p:cNvPr id="18" name="TextBox 17"/>
          <p:cNvSpPr txBox="1"/>
          <p:nvPr/>
        </p:nvSpPr>
        <p:spPr>
          <a:xfrm>
            <a:off x="8229600" y="2606040"/>
            <a:ext cx="2852928" cy="548640"/>
          </a:xfrm>
          <a:prstGeom prst="rect">
            <a:avLst/>
          </a:prstGeom>
          <a:noFill/>
        </p:spPr>
        <p:txBody>
          <a:bodyPr wrap="square" lIns="0" rIns="0" tIns="0" bIns="0" anchor="t"/>
          <a:lstStyle/>
          <a:p>
            <a:pPr algn="l"/>
            <a:r>
              <a:rPr sz="1400" b="0" i="0">
                <a:solidFill>
                  <a:srgbClr val="14142B"/>
                </a:solidFill>
                <a:latin typeface="Calibri"/>
              </a:rPr>
              <a:t>Every decision waits on a model.</a:t>
            </a:r>
          </a:p>
        </p:txBody>
      </p:sp>
      <p:sp>
        <p:nvSpPr>
          <p:cNvPr id="19" name="TextBox 18"/>
          <p:cNvSpPr txBox="1"/>
          <p:nvPr/>
        </p:nvSpPr>
        <p:spPr>
          <a:xfrm>
            <a:off x="8229600" y="3200400"/>
            <a:ext cx="2852928" cy="274320"/>
          </a:xfrm>
          <a:prstGeom prst="rect">
            <a:avLst/>
          </a:prstGeom>
          <a:noFill/>
        </p:spPr>
        <p:txBody>
          <a:bodyPr wrap="square" lIns="0" rIns="0" tIns="0" bIns="0" anchor="t"/>
          <a:lstStyle/>
          <a:p>
            <a:pPr algn="l"/>
            <a:r>
              <a:rPr sz="1000" b="1" i="0">
                <a:solidFill>
                  <a:srgbClr val="C23636"/>
                </a:solidFill>
                <a:latin typeface="Calibri"/>
              </a:rPr>
              <a:t>THE GAP</a:t>
            </a:r>
          </a:p>
        </p:txBody>
      </p:sp>
      <p:sp>
        <p:nvSpPr>
          <p:cNvPr id="20" name="TextBox 19"/>
          <p:cNvSpPr txBox="1"/>
          <p:nvPr/>
        </p:nvSpPr>
        <p:spPr>
          <a:xfrm>
            <a:off x="8229600" y="3474720"/>
            <a:ext cx="2852928" cy="1188720"/>
          </a:xfrm>
          <a:prstGeom prst="rect">
            <a:avLst/>
          </a:prstGeom>
          <a:noFill/>
        </p:spPr>
        <p:txBody>
          <a:bodyPr wrap="square" lIns="0" rIns="0" tIns="0" bIns="0" anchor="t"/>
          <a:lstStyle/>
          <a:p>
            <a:pPr algn="l"/>
            <a:r>
              <a:rPr sz="1400" b="0" i="0">
                <a:solidFill>
                  <a:srgbClr val="14142B"/>
                </a:solidFill>
                <a:latin typeface="Calibri"/>
              </a:rPr>
              <a:t>Seconds on the critical path, and no hard guarantee against duplicate writes.</a:t>
            </a:r>
          </a:p>
        </p:txBody>
      </p:sp>
      <p:sp>
        <p:nvSpPr>
          <p:cNvPr id="21" name="Rounded Rectangle 20"/>
          <p:cNvSpPr/>
          <p:nvPr/>
        </p:nvSpPr>
        <p:spPr>
          <a:xfrm>
            <a:off x="868680" y="5029200"/>
            <a:ext cx="10442448" cy="118872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143000" y="5120640"/>
            <a:ext cx="9966960" cy="1005840"/>
          </a:xfrm>
          <a:prstGeom prst="rect">
            <a:avLst/>
          </a:prstGeom>
          <a:noFill/>
        </p:spPr>
        <p:txBody>
          <a:bodyPr wrap="square" lIns="0" rIns="0" tIns="0" bIns="0" anchor="ctr"/>
          <a:lstStyle/>
          <a:p>
            <a:pPr algn="l">
              <a:spcAft>
                <a:spcPts val="400"/>
              </a:spcAft>
            </a:pPr>
            <a:r>
              <a:rPr sz="1200" b="1" i="0">
                <a:solidFill>
                  <a:srgbClr val="E4DCF7"/>
                </a:solidFill>
                <a:latin typeface="Calibri"/>
              </a:rPr>
              <a:t>What we do instead</a:t>
            </a:r>
          </a:p>
          <a:p>
            <a:pPr algn="l"/>
            <a:r>
              <a:rPr sz="1500" b="0" i="0">
                <a:solidFill>
                  <a:srgbClr val="FFFFFF"/>
                </a:solidFill>
                <a:latin typeface="Calibri"/>
              </a:rPr>
              <a:t>A rule-based fast path answers on the same event tick. A coordination layer cancels only the calls a correction invalidates. An idempotency ledger makes a second identical booking impossible.</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sz="3600">
                <a:solidFill>
                  <a:srgbClr val="704EA6"/>
                </a:solidFill>
                <a:latin typeface="+mn-lt"/>
              </a:rPr>
              <a:t>Our Solutions &amp; Architecture Diagram</a:t>
            </a:r>
          </a:p>
        </p:txBody>
      </p:sp>
      <p:sp>
        <p:nvSpPr>
          <p:cNvPr id="3" name="Rounded Rectangle 2"/>
          <p:cNvSpPr/>
          <p:nvPr/>
        </p:nvSpPr>
        <p:spPr>
          <a:xfrm>
            <a:off x="868680" y="1600200"/>
            <a:ext cx="1554480" cy="324612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1673352"/>
            <a:ext cx="1554480" cy="274320"/>
          </a:xfrm>
          <a:prstGeom prst="rect">
            <a:avLst/>
          </a:prstGeom>
          <a:noFill/>
        </p:spPr>
        <p:txBody>
          <a:bodyPr wrap="square" lIns="0" rIns="0" tIns="0" bIns="0" anchor="t"/>
          <a:lstStyle/>
          <a:p>
            <a:pPr algn="ctr"/>
            <a:r>
              <a:rPr sz="1000" b="1" i="0">
                <a:solidFill>
                  <a:srgbClr val="6D28D9"/>
                </a:solidFill>
                <a:latin typeface="Calibri"/>
              </a:rPr>
              <a:t>EVALUATION KIT</a:t>
            </a:r>
          </a:p>
        </p:txBody>
      </p:sp>
      <p:sp>
        <p:nvSpPr>
          <p:cNvPr id="5" name="Rounded Rectangle 4"/>
          <p:cNvSpPr/>
          <p:nvPr/>
        </p:nvSpPr>
        <p:spPr>
          <a:xfrm>
            <a:off x="978408" y="2011680"/>
            <a:ext cx="1335024" cy="73152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9848" y="2066544"/>
            <a:ext cx="1152144" cy="621792"/>
          </a:xfrm>
          <a:prstGeom prst="rect">
            <a:avLst/>
          </a:prstGeom>
          <a:noFill/>
        </p:spPr>
        <p:txBody>
          <a:bodyPr wrap="square" lIns="0" rIns="0" tIns="0" bIns="0" anchor="ctr"/>
          <a:lstStyle/>
          <a:p>
            <a:pPr algn="ctr">
              <a:spcAft>
                <a:spcPts val="200"/>
              </a:spcAft>
            </a:pPr>
            <a:r>
              <a:rPr sz="1200" b="1" i="0">
                <a:solidFill>
                  <a:srgbClr val="14142B"/>
                </a:solidFill>
                <a:latin typeface="Calibri"/>
              </a:rPr>
              <a:t>Inbox</a:t>
            </a:r>
          </a:p>
          <a:p>
            <a:pPr algn="ctr"/>
            <a:r>
              <a:rPr sz="1000" b="0" i="0">
                <a:solidFill>
                  <a:srgbClr val="63637E"/>
                </a:solidFill>
                <a:latin typeface="Calibri"/>
              </a:rPr>
              <a:t>timestamped events</a:t>
            </a:r>
          </a:p>
        </p:txBody>
      </p:sp>
      <p:sp>
        <p:nvSpPr>
          <p:cNvPr id="7" name="Rounded Rectangle 6"/>
          <p:cNvSpPr/>
          <p:nvPr/>
        </p:nvSpPr>
        <p:spPr>
          <a:xfrm>
            <a:off x="978408" y="2880360"/>
            <a:ext cx="1335024" cy="73152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9848" y="2935224"/>
            <a:ext cx="1152144" cy="621792"/>
          </a:xfrm>
          <a:prstGeom prst="rect">
            <a:avLst/>
          </a:prstGeom>
          <a:noFill/>
        </p:spPr>
        <p:txBody>
          <a:bodyPr wrap="square" lIns="0" rIns="0" tIns="0" bIns="0" anchor="ctr"/>
          <a:lstStyle/>
          <a:p>
            <a:pPr algn="ctr">
              <a:spcAft>
                <a:spcPts val="200"/>
              </a:spcAft>
            </a:pPr>
            <a:r>
              <a:rPr sz="1200" b="1" i="0">
                <a:solidFill>
                  <a:srgbClr val="14142B"/>
                </a:solidFill>
                <a:latin typeface="Calibri"/>
              </a:rPr>
              <a:t>Tool executor</a:t>
            </a:r>
          </a:p>
          <a:p>
            <a:pPr algn="ctr"/>
            <a:r>
              <a:rPr sz="1000" b="0" i="0">
                <a:solidFill>
                  <a:srgbClr val="63637E"/>
                </a:solidFill>
                <a:latin typeface="Calibri"/>
              </a:rPr>
              <a:t>mock tools, faults</a:t>
            </a:r>
          </a:p>
        </p:txBody>
      </p:sp>
      <p:sp>
        <p:nvSpPr>
          <p:cNvPr id="9" name="Rounded Rectangle 8"/>
          <p:cNvSpPr/>
          <p:nvPr/>
        </p:nvSpPr>
        <p:spPr>
          <a:xfrm>
            <a:off x="978408" y="3749039"/>
            <a:ext cx="1335024" cy="73152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69848" y="3803903"/>
            <a:ext cx="1152144" cy="621792"/>
          </a:xfrm>
          <a:prstGeom prst="rect">
            <a:avLst/>
          </a:prstGeom>
          <a:noFill/>
        </p:spPr>
        <p:txBody>
          <a:bodyPr wrap="square" lIns="0" rIns="0" tIns="0" bIns="0" anchor="ctr"/>
          <a:lstStyle/>
          <a:p>
            <a:pPr algn="ctr">
              <a:spcAft>
                <a:spcPts val="200"/>
              </a:spcAft>
            </a:pPr>
            <a:r>
              <a:rPr sz="1200" b="1" i="0">
                <a:solidFill>
                  <a:srgbClr val="14142B"/>
                </a:solidFill>
                <a:latin typeface="Calibri"/>
              </a:rPr>
              <a:t>Outbox</a:t>
            </a:r>
          </a:p>
          <a:p>
            <a:pPr algn="ctr"/>
            <a:r>
              <a:rPr sz="1000" b="0" i="0">
                <a:solidFill>
                  <a:srgbClr val="63637E"/>
                </a:solidFill>
                <a:latin typeface="Calibri"/>
              </a:rPr>
              <a:t>actions</a:t>
            </a:r>
          </a:p>
        </p:txBody>
      </p:sp>
      <p:sp>
        <p:nvSpPr>
          <p:cNvPr id="11" name="Rounded Rectangle 10"/>
          <p:cNvSpPr/>
          <p:nvPr/>
        </p:nvSpPr>
        <p:spPr>
          <a:xfrm>
            <a:off x="2697480" y="1783080"/>
            <a:ext cx="1417320" cy="123444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88920" y="1837943"/>
            <a:ext cx="1234440" cy="1124712"/>
          </a:xfrm>
          <a:prstGeom prst="rect">
            <a:avLst/>
          </a:prstGeom>
          <a:noFill/>
        </p:spPr>
        <p:txBody>
          <a:bodyPr wrap="square" lIns="0" rIns="0" tIns="0" bIns="0" anchor="ctr"/>
          <a:lstStyle/>
          <a:p>
            <a:pPr algn="ctr">
              <a:spcAft>
                <a:spcPts val="200"/>
              </a:spcAft>
            </a:pPr>
            <a:r>
              <a:rPr sz="1200" b="1" i="0">
                <a:solidFill>
                  <a:srgbClr val="FFFFFF"/>
                </a:solidFill>
                <a:latin typeface="Calibri"/>
              </a:rPr>
              <a:t>protocol.py</a:t>
            </a:r>
          </a:p>
          <a:p>
            <a:pPr algn="ctr"/>
            <a:r>
              <a:rPr sz="1000" b="0" i="0">
                <a:solidFill>
                  <a:srgbClr val="E4DCF7"/>
                </a:solidFill>
                <a:latin typeface="Calibri"/>
              </a:rPr>
              <a:t>parse_event: names, units, nesting</a:t>
            </a:r>
          </a:p>
        </p:txBody>
      </p:sp>
      <p:sp>
        <p:nvSpPr>
          <p:cNvPr id="13" name="Rounded Rectangle 12"/>
          <p:cNvSpPr/>
          <p:nvPr/>
        </p:nvSpPr>
        <p:spPr>
          <a:xfrm>
            <a:off x="2697480" y="3429000"/>
            <a:ext cx="1417320" cy="123444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788920" y="3483864"/>
            <a:ext cx="1234440" cy="1124712"/>
          </a:xfrm>
          <a:prstGeom prst="rect">
            <a:avLst/>
          </a:prstGeom>
          <a:noFill/>
        </p:spPr>
        <p:txBody>
          <a:bodyPr wrap="square" lIns="0" rIns="0" tIns="0" bIns="0" anchor="ctr"/>
          <a:lstStyle/>
          <a:p>
            <a:pPr algn="ctr">
              <a:spcAft>
                <a:spcPts val="200"/>
              </a:spcAft>
            </a:pPr>
            <a:r>
              <a:rPr sz="1200" b="1" i="0">
                <a:solidFill>
                  <a:srgbClr val="FFFFFF"/>
                </a:solidFill>
                <a:latin typeface="Calibri"/>
              </a:rPr>
              <a:t>protocol.py</a:t>
            </a:r>
          </a:p>
          <a:p>
            <a:pPr algn="ctr"/>
            <a:r>
              <a:rPr sz="1000" b="0" i="0">
                <a:solidFill>
                  <a:srgbClr val="E4DCF7"/>
                </a:solidFill>
                <a:latin typeface="Calibri"/>
              </a:rPr>
              <a:t>to_wire: validate + State Snapshot</a:t>
            </a:r>
          </a:p>
        </p:txBody>
      </p:sp>
      <p:sp>
        <p:nvSpPr>
          <p:cNvPr id="15" name="Rounded Rectangle 14"/>
          <p:cNvSpPr/>
          <p:nvPr/>
        </p:nvSpPr>
        <p:spPr>
          <a:xfrm>
            <a:off x="4389120" y="1783080"/>
            <a:ext cx="1554480" cy="288036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80559" y="1837943"/>
            <a:ext cx="1371600" cy="2770632"/>
          </a:xfrm>
          <a:prstGeom prst="rect">
            <a:avLst/>
          </a:prstGeom>
          <a:noFill/>
        </p:spPr>
        <p:txBody>
          <a:bodyPr wrap="square" lIns="0" rIns="0" tIns="0" bIns="0" anchor="ctr"/>
          <a:lstStyle/>
          <a:p>
            <a:pPr algn="ctr">
              <a:spcAft>
                <a:spcPts val="200"/>
              </a:spcAft>
            </a:pPr>
            <a:r>
              <a:rPr sz="1200" b="1" i="0">
                <a:solidFill>
                  <a:srgbClr val="14142B"/>
                </a:solidFill>
                <a:latin typeface="Calibri"/>
              </a:rPr>
              <a:t>Engine</a:t>
            </a:r>
          </a:p>
          <a:p>
            <a:pPr algn="ctr"/>
            <a:r>
              <a:rPr sz="1000" b="0" i="0">
                <a:solidFill>
                  <a:srgbClr val="63637E"/>
                </a:solidFill>
                <a:latin typeface="Calibri"/>
              </a:rPr>
              <a:t>one event loop, ordered dispatch, a single emit(), one task per tool call</a:t>
            </a:r>
          </a:p>
        </p:txBody>
      </p:sp>
      <p:sp>
        <p:nvSpPr>
          <p:cNvPr id="17" name="Rounded Rectangle 16"/>
          <p:cNvSpPr/>
          <p:nvPr/>
        </p:nvSpPr>
        <p:spPr>
          <a:xfrm>
            <a:off x="6217920" y="1600200"/>
            <a:ext cx="2514600" cy="324612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0" y="1673352"/>
            <a:ext cx="2514600" cy="274320"/>
          </a:xfrm>
          <a:prstGeom prst="rect">
            <a:avLst/>
          </a:prstGeom>
          <a:noFill/>
        </p:spPr>
        <p:txBody>
          <a:bodyPr wrap="square" lIns="0" rIns="0" tIns="0" bIns="0" anchor="t"/>
          <a:lstStyle/>
          <a:p>
            <a:pPr algn="ctr"/>
            <a:r>
              <a:rPr sz="1000" b="1" i="0">
                <a:solidFill>
                  <a:srgbClr val="6D28D9"/>
                </a:solidFill>
                <a:latin typeface="Calibri"/>
              </a:rPr>
              <a:t>FAST PATH  ·  sync, no LLM</a:t>
            </a:r>
          </a:p>
        </p:txBody>
      </p:sp>
      <p:sp>
        <p:nvSpPr>
          <p:cNvPr id="19" name="Rounded Rectangle 18"/>
          <p:cNvSpPr/>
          <p:nvPr/>
        </p:nvSpPr>
        <p:spPr>
          <a:xfrm>
            <a:off x="6355080" y="2011680"/>
            <a:ext cx="2240280" cy="603504"/>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2066544"/>
            <a:ext cx="2057400" cy="493776"/>
          </a:xfrm>
          <a:prstGeom prst="rect">
            <a:avLst/>
          </a:prstGeom>
          <a:noFill/>
        </p:spPr>
        <p:txBody>
          <a:bodyPr wrap="square" lIns="0" rIns="0" tIns="0" bIns="0" anchor="ctr"/>
          <a:lstStyle/>
          <a:p>
            <a:pPr algn="ctr">
              <a:spcAft>
                <a:spcPts val="200"/>
              </a:spcAft>
            </a:pPr>
            <a:r>
              <a:rPr sz="1200" b="1" i="0">
                <a:solidFill>
                  <a:srgbClr val="14142B"/>
                </a:solidFill>
                <a:latin typeface="Calibri"/>
              </a:rPr>
              <a:t>nlu</a:t>
            </a:r>
          </a:p>
          <a:p>
            <a:pPr algn="ctr"/>
            <a:r>
              <a:rPr sz="1000" b="0" i="0">
                <a:solidFill>
                  <a:srgbClr val="63637E"/>
                </a:solidFill>
                <a:latin typeface="Calibri"/>
              </a:rPr>
              <a:t>repairs, intents, slots</a:t>
            </a:r>
          </a:p>
        </p:txBody>
      </p:sp>
      <p:sp>
        <p:nvSpPr>
          <p:cNvPr id="21" name="Rounded Rectangle 20"/>
          <p:cNvSpPr/>
          <p:nvPr/>
        </p:nvSpPr>
        <p:spPr>
          <a:xfrm>
            <a:off x="6355080" y="2706624"/>
            <a:ext cx="2240280" cy="603504"/>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46520" y="2761488"/>
            <a:ext cx="2057400" cy="493776"/>
          </a:xfrm>
          <a:prstGeom prst="rect">
            <a:avLst/>
          </a:prstGeom>
          <a:noFill/>
        </p:spPr>
        <p:txBody>
          <a:bodyPr wrap="square" lIns="0" rIns="0" tIns="0" bIns="0" anchor="ctr"/>
          <a:lstStyle/>
          <a:p>
            <a:pPr algn="ctr">
              <a:spcAft>
                <a:spcPts val="200"/>
              </a:spcAft>
            </a:pPr>
            <a:r>
              <a:rPr sz="1200" b="1" i="0">
                <a:solidFill>
                  <a:srgbClr val="14142B"/>
                </a:solidFill>
                <a:latin typeface="Calibri"/>
              </a:rPr>
              <a:t>state</a:t>
            </a:r>
          </a:p>
          <a:p>
            <a:pPr algn="ctr"/>
            <a:r>
              <a:rPr sz="1000" b="0" i="0">
                <a:solidFill>
                  <a:srgbClr val="63637E"/>
                </a:solidFill>
                <a:latin typeface="Calibri"/>
              </a:rPr>
              <a:t>localised corrections</a:t>
            </a:r>
          </a:p>
        </p:txBody>
      </p:sp>
      <p:sp>
        <p:nvSpPr>
          <p:cNvPr id="23" name="Rounded Rectangle 22"/>
          <p:cNvSpPr/>
          <p:nvPr/>
        </p:nvSpPr>
        <p:spPr>
          <a:xfrm>
            <a:off x="6355080" y="3401568"/>
            <a:ext cx="2240280" cy="603504"/>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3456432"/>
            <a:ext cx="2057400" cy="493776"/>
          </a:xfrm>
          <a:prstGeom prst="rect">
            <a:avLst/>
          </a:prstGeom>
          <a:noFill/>
        </p:spPr>
        <p:txBody>
          <a:bodyPr wrap="square" lIns="0" rIns="0" tIns="0" bIns="0" anchor="ctr"/>
          <a:lstStyle/>
          <a:p>
            <a:pPr algn="ctr">
              <a:spcAft>
                <a:spcPts val="200"/>
              </a:spcAft>
            </a:pPr>
            <a:r>
              <a:rPr sz="1200" b="1" i="0">
                <a:solidFill>
                  <a:srgbClr val="14142B"/>
                </a:solidFill>
                <a:latin typeface="Calibri"/>
              </a:rPr>
              <a:t>planner</a:t>
            </a:r>
          </a:p>
          <a:p>
            <a:pPr algn="ctr"/>
            <a:r>
              <a:rPr sz="1000" b="0" i="0">
                <a:solidFill>
                  <a:srgbClr val="63637E"/>
                </a:solidFill>
                <a:latin typeface="Calibri"/>
              </a:rPr>
              <a:t>manifest-driven, chaining</a:t>
            </a:r>
          </a:p>
        </p:txBody>
      </p:sp>
      <p:sp>
        <p:nvSpPr>
          <p:cNvPr id="25" name="Rounded Rectangle 24"/>
          <p:cNvSpPr/>
          <p:nvPr/>
        </p:nvSpPr>
        <p:spPr>
          <a:xfrm>
            <a:off x="6355080" y="4096511"/>
            <a:ext cx="2240280" cy="603504"/>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46520" y="4151375"/>
            <a:ext cx="2057400" cy="493776"/>
          </a:xfrm>
          <a:prstGeom prst="rect">
            <a:avLst/>
          </a:prstGeom>
          <a:noFill/>
        </p:spPr>
        <p:txBody>
          <a:bodyPr wrap="square" lIns="0" rIns="0" tIns="0" bIns="0" anchor="ctr"/>
          <a:lstStyle/>
          <a:p>
            <a:pPr algn="ctr">
              <a:spcAft>
                <a:spcPts val="200"/>
              </a:spcAft>
            </a:pPr>
            <a:r>
              <a:rPr sz="1200" b="1" i="0">
                <a:solidFill>
                  <a:srgbClr val="14142B"/>
                </a:solidFill>
                <a:latin typeface="Calibri"/>
              </a:rPr>
              <a:t>nlg</a:t>
            </a:r>
          </a:p>
          <a:p>
            <a:pPr algn="ctr"/>
            <a:r>
              <a:rPr sz="1000" b="0" i="0">
                <a:solidFill>
                  <a:srgbClr val="63637E"/>
                </a:solidFill>
                <a:latin typeface="Calibri"/>
              </a:rPr>
              <a:t>grounded replies</a:t>
            </a:r>
          </a:p>
        </p:txBody>
      </p:sp>
      <p:cxnSp>
        <p:nvCxnSpPr>
          <p:cNvPr id="27" name="Connector 26"/>
          <p:cNvCxnSpPr/>
          <p:nvPr/>
        </p:nvCxnSpPr>
        <p:spPr>
          <a:xfrm>
            <a:off x="7475220" y="2615184"/>
            <a:ext cx="0" cy="91440"/>
          </a:xfrm>
          <a:prstGeom prst="line">
            <a:avLst/>
          </a:prstGeom>
          <a:ln w="1905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75220" y="3310128"/>
            <a:ext cx="0" cy="91440"/>
          </a:xfrm>
          <a:prstGeom prst="line">
            <a:avLst/>
          </a:prstGeom>
          <a:ln w="1905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475220" y="4005072"/>
            <a:ext cx="0" cy="91440"/>
          </a:xfrm>
          <a:prstGeom prst="line">
            <a:avLst/>
          </a:prstGeom>
          <a:ln w="1905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006840" y="1600200"/>
            <a:ext cx="2304288" cy="10058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098280" y="1655064"/>
            <a:ext cx="2121408" cy="896112"/>
          </a:xfrm>
          <a:prstGeom prst="rect">
            <a:avLst/>
          </a:prstGeom>
          <a:noFill/>
        </p:spPr>
        <p:txBody>
          <a:bodyPr wrap="square" lIns="0" rIns="0" tIns="0" bIns="0" anchor="ctr"/>
          <a:lstStyle/>
          <a:p>
            <a:pPr algn="ctr">
              <a:spcAft>
                <a:spcPts val="200"/>
              </a:spcAft>
            </a:pPr>
            <a:r>
              <a:rPr sz="1200" b="1" i="0">
                <a:solidFill>
                  <a:srgbClr val="14142B"/>
                </a:solidFill>
                <a:latin typeface="Calibri"/>
              </a:rPr>
              <a:t>Coordinator</a:t>
            </a:r>
          </a:p>
          <a:p>
            <a:pPr algn="ctr"/>
            <a:r>
              <a:rPr sz="1000" b="0" i="0">
                <a:solidFill>
                  <a:srgbClr val="63637E"/>
                </a:solidFill>
                <a:latin typeface="Calibri"/>
              </a:rPr>
              <a:t>call registry, cancel tokens, generations, idempotency ledger</a:t>
            </a:r>
          </a:p>
        </p:txBody>
      </p:sp>
      <p:sp>
        <p:nvSpPr>
          <p:cNvPr id="32" name="Rounded Rectangle 31"/>
          <p:cNvSpPr/>
          <p:nvPr/>
        </p:nvSpPr>
        <p:spPr>
          <a:xfrm>
            <a:off x="9006840" y="2715768"/>
            <a:ext cx="2304288" cy="10058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098280" y="2770632"/>
            <a:ext cx="2121408" cy="896112"/>
          </a:xfrm>
          <a:prstGeom prst="rect">
            <a:avLst/>
          </a:prstGeom>
          <a:noFill/>
        </p:spPr>
        <p:txBody>
          <a:bodyPr wrap="square" lIns="0" rIns="0" tIns="0" bIns="0" anchor="ctr"/>
          <a:lstStyle/>
          <a:p>
            <a:pPr algn="ctr">
              <a:spcAft>
                <a:spcPts val="200"/>
              </a:spcAft>
            </a:pPr>
            <a:r>
              <a:rPr sz="1200" b="1" i="0">
                <a:solidFill>
                  <a:srgbClr val="14142B"/>
                </a:solidFill>
                <a:latin typeface="Calibri"/>
              </a:rPr>
              <a:t>Slow path</a:t>
            </a:r>
          </a:p>
          <a:p>
            <a:pPr algn="ctr"/>
            <a:r>
              <a:rPr sz="1000" b="0" i="0">
                <a:solidFill>
                  <a:srgbClr val="63637E"/>
                </a:solidFill>
                <a:latin typeface="Calibri"/>
              </a:rPr>
              <a:t>Whisper ASR, OCR, optional LLM: cancellable tasks</a:t>
            </a:r>
          </a:p>
        </p:txBody>
      </p:sp>
      <p:sp>
        <p:nvSpPr>
          <p:cNvPr id="34" name="Rounded Rectangle 33"/>
          <p:cNvSpPr/>
          <p:nvPr/>
        </p:nvSpPr>
        <p:spPr>
          <a:xfrm>
            <a:off x="9006840" y="3840480"/>
            <a:ext cx="2304288" cy="10058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098280" y="3895344"/>
            <a:ext cx="2121408" cy="896112"/>
          </a:xfrm>
          <a:prstGeom prst="rect">
            <a:avLst/>
          </a:prstGeom>
          <a:noFill/>
        </p:spPr>
        <p:txBody>
          <a:bodyPr wrap="square" lIns="0" rIns="0" tIns="0" bIns="0" anchor="ctr"/>
          <a:lstStyle/>
          <a:p>
            <a:pPr algn="ctr">
              <a:spcAft>
                <a:spcPts val="200"/>
              </a:spcAft>
            </a:pPr>
            <a:r>
              <a:rPr sz="1200" b="1" i="0">
                <a:solidFill>
                  <a:srgbClr val="14142B"/>
                </a:solidFill>
                <a:latin typeface="Calibri"/>
              </a:rPr>
              <a:t>Watchdog</a:t>
            </a:r>
          </a:p>
          <a:p>
            <a:pPr algn="ctr"/>
            <a:r>
              <a:rPr sz="1000" b="0" i="0">
                <a:solidFill>
                  <a:srgbClr val="63637E"/>
                </a:solidFill>
                <a:latin typeface="Calibri"/>
              </a:rPr>
              <a:t>honest final + snapshot at 110 s, before the 120 s cap</a:t>
            </a:r>
          </a:p>
        </p:txBody>
      </p:sp>
      <p:cxnSp>
        <p:nvCxnSpPr>
          <p:cNvPr id="36" name="Connector 35"/>
          <p:cNvCxnSpPr/>
          <p:nvPr/>
        </p:nvCxnSpPr>
        <p:spPr>
          <a:xfrm>
            <a:off x="2313432" y="2377440"/>
            <a:ext cx="384048"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114800" y="237744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943600" y="315468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4114800" y="406908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2313432" y="4069080"/>
            <a:ext cx="384048"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645920" y="2743200"/>
            <a:ext cx="0" cy="13716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68680" y="5074920"/>
            <a:ext cx="3310128" cy="12344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51560" y="5148072"/>
            <a:ext cx="2971800" cy="1097280"/>
          </a:xfrm>
          <a:prstGeom prst="rect">
            <a:avLst/>
          </a:prstGeom>
          <a:noFill/>
        </p:spPr>
        <p:txBody>
          <a:bodyPr wrap="square" lIns="0" rIns="0" tIns="0" bIns="0" anchor="t"/>
          <a:lstStyle/>
          <a:p>
            <a:pPr algn="l">
              <a:spcAft>
                <a:spcPts val="300"/>
              </a:spcAft>
            </a:pPr>
            <a:r>
              <a:rPr sz="1400" b="1" i="0">
                <a:solidFill>
                  <a:srgbClr val="6D28D9"/>
                </a:solidFill>
                <a:latin typeface="Calibri"/>
              </a:rPr>
              <a:t>Cancel before speaking</a:t>
            </a:r>
          </a:p>
          <a:p>
            <a:pPr algn="l"/>
            <a:r>
              <a:rPr sz="1150" b="0" i="0">
                <a:solidFill>
                  <a:srgbClr val="14142B"/>
                </a:solidFill>
                <a:latin typeface="Calibri"/>
              </a:rPr>
              <a:t>A correction cancels superseded calls in the same handler, stamped on the same clock tick, before any speech.</a:t>
            </a:r>
          </a:p>
        </p:txBody>
      </p:sp>
      <p:sp>
        <p:nvSpPr>
          <p:cNvPr id="44" name="Rounded Rectangle 43"/>
          <p:cNvSpPr/>
          <p:nvPr/>
        </p:nvSpPr>
        <p:spPr>
          <a:xfrm>
            <a:off x="4434840" y="5074920"/>
            <a:ext cx="3310128" cy="12344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617720" y="5148072"/>
            <a:ext cx="2971800" cy="1097280"/>
          </a:xfrm>
          <a:prstGeom prst="rect">
            <a:avLst/>
          </a:prstGeom>
          <a:noFill/>
        </p:spPr>
        <p:txBody>
          <a:bodyPr wrap="square" lIns="0" rIns="0" tIns="0" bIns="0" anchor="t"/>
          <a:lstStyle/>
          <a:p>
            <a:pPr algn="l">
              <a:spcAft>
                <a:spcPts val="300"/>
              </a:spcAft>
            </a:pPr>
            <a:r>
              <a:rPr sz="1400" b="1" i="0">
                <a:solidFill>
                  <a:srgbClr val="6D28D9"/>
                </a:solidFill>
                <a:latin typeface="Calibri"/>
              </a:rPr>
              <a:t>Generations drop stale results</a:t>
            </a:r>
          </a:p>
          <a:p>
            <a:pPr algn="l"/>
            <a:r>
              <a:rPr sz="1150" b="0" i="0">
                <a:solidFill>
                  <a:srgbClr val="14142B"/>
                </a:solidFill>
                <a:latin typeface="Calibri"/>
              </a:rPr>
              <a:t>Each re-plan bumps a generation. Late, stale or duplicate results are logged and never reach the planner.</a:t>
            </a:r>
          </a:p>
        </p:txBody>
      </p:sp>
      <p:sp>
        <p:nvSpPr>
          <p:cNvPr id="46" name="Rounded Rectangle 45"/>
          <p:cNvSpPr/>
          <p:nvPr/>
        </p:nvSpPr>
        <p:spPr>
          <a:xfrm>
            <a:off x="8001000" y="5074920"/>
            <a:ext cx="3310128" cy="12344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8183879" y="5148072"/>
            <a:ext cx="2971800" cy="1097280"/>
          </a:xfrm>
          <a:prstGeom prst="rect">
            <a:avLst/>
          </a:prstGeom>
          <a:noFill/>
        </p:spPr>
        <p:txBody>
          <a:bodyPr wrap="square" lIns="0" rIns="0" tIns="0" bIns="0" anchor="t"/>
          <a:lstStyle/>
          <a:p>
            <a:pPr algn="l">
              <a:spcAft>
                <a:spcPts val="300"/>
              </a:spcAft>
            </a:pPr>
            <a:r>
              <a:rPr sz="1400" b="1" i="0">
                <a:solidFill>
                  <a:srgbClr val="6D28D9"/>
                </a:solidFill>
                <a:latin typeface="Calibri"/>
              </a:rPr>
              <a:t>Idempotency ledger</a:t>
            </a:r>
          </a:p>
          <a:p>
            <a:pPr algn="l"/>
            <a:r>
              <a:rPr sz="1150" b="0" i="0">
                <a:solidFill>
                  <a:srgbClr val="14142B"/>
                </a:solidFill>
                <a:latin typeface="Calibri"/>
              </a:rPr>
              <a:t>Writes are keyed on tool + canonical args. A committed key is never sent again; unmarked tools count as writes.</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sz="3600">
                <a:solidFill>
                  <a:srgbClr val="704EA6"/>
                </a:solidFill>
                <a:latin typeface="+mn-lt"/>
              </a:rPr>
              <a:t>Demo &amp; Product Walkthrough</a:t>
            </a:r>
          </a:p>
        </p:txBody>
      </p:sp>
      <p:pic>
        <p:nvPicPr>
          <p:cNvPr id="3" name="Picture 2" descr="viewer_crop.png"/>
          <p:cNvPicPr>
            <a:picLocks noChangeAspect="1"/>
          </p:cNvPicPr>
          <p:nvPr/>
        </p:nvPicPr>
        <p:blipFill>
          <a:blip r:embed="rId2"/>
          <a:stretch>
            <a:fillRect/>
          </a:stretch>
        </p:blipFill>
        <p:spPr>
          <a:xfrm>
            <a:off x="868680" y="1645920"/>
            <a:ext cx="6903720" cy="2869359"/>
          </a:xfrm>
          <a:prstGeom prst="rect">
            <a:avLst/>
          </a:prstGeom>
          <a:ln w="12700">
            <a:solidFill>
              <a:srgbClr val="D9D3F0"/>
            </a:solidFill>
          </a:ln>
        </p:spPr>
      </p:pic>
      <p:sp>
        <p:nvSpPr>
          <p:cNvPr id="4" name="TextBox 3"/>
          <p:cNvSpPr txBox="1"/>
          <p:nvPr/>
        </p:nvSpPr>
        <p:spPr>
          <a:xfrm>
            <a:off x="868680" y="4606719"/>
            <a:ext cx="6903720" cy="320040"/>
          </a:xfrm>
          <a:prstGeom prst="rect">
            <a:avLst/>
          </a:prstGeom>
          <a:noFill/>
        </p:spPr>
        <p:txBody>
          <a:bodyPr wrap="square" lIns="0" rIns="0" tIns="0" bIns="0" anchor="t"/>
          <a:lstStyle/>
          <a:p>
            <a:pPr algn="l"/>
            <a:r>
              <a:rPr sz="1100" b="0" i="1">
                <a:solidFill>
                  <a:srgbClr val="63637E"/>
                </a:solidFill>
                <a:latin typeface="Calibri"/>
              </a:rPr>
              <a:t>Trace viewer replaying scenario s02 on the virtual clock, paused just after the interruption.</a:t>
            </a:r>
          </a:p>
        </p:txBody>
      </p:sp>
      <p:sp>
        <p:nvSpPr>
          <p:cNvPr id="5" name="TextBox 4"/>
          <p:cNvSpPr txBox="1"/>
          <p:nvPr/>
        </p:nvSpPr>
        <p:spPr>
          <a:xfrm>
            <a:off x="868680" y="4892040"/>
            <a:ext cx="6858000" cy="274320"/>
          </a:xfrm>
          <a:prstGeom prst="rect">
            <a:avLst/>
          </a:prstGeom>
          <a:noFill/>
        </p:spPr>
        <p:txBody>
          <a:bodyPr wrap="square" lIns="0" rIns="0" tIns="0" bIns="0" anchor="t"/>
          <a:lstStyle/>
          <a:p>
            <a:pPr algn="l"/>
            <a:r>
              <a:rPr sz="1100" b="1" i="0">
                <a:solidFill>
                  <a:srgbClr val="6D28D9"/>
                </a:solidFill>
                <a:latin typeface="Calibri"/>
              </a:rPr>
              <a:t>WHAT THE DEMO VIDEO SHOWS</a:t>
            </a:r>
          </a:p>
        </p:txBody>
      </p:sp>
      <p:sp>
        <p:nvSpPr>
          <p:cNvPr id="6" name="Rounded Rectangle 5"/>
          <p:cNvSpPr/>
          <p:nvPr/>
        </p:nvSpPr>
        <p:spPr>
          <a:xfrm>
            <a:off x="868680" y="5212080"/>
            <a:ext cx="2194560" cy="86868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39" y="5230368"/>
            <a:ext cx="1920240" cy="822960"/>
          </a:xfrm>
          <a:prstGeom prst="rect">
            <a:avLst/>
          </a:prstGeom>
          <a:noFill/>
        </p:spPr>
        <p:txBody>
          <a:bodyPr wrap="square" lIns="0" rIns="0" tIns="0" bIns="0" anchor="ctr"/>
          <a:lstStyle/>
          <a:p>
            <a:pPr algn="l">
              <a:spcAft>
                <a:spcPts val="200"/>
              </a:spcAft>
            </a:pPr>
            <a:r>
              <a:rPr sz="1300" b="1" i="0">
                <a:solidFill>
                  <a:srgbClr val="14142B"/>
                </a:solidFill>
                <a:latin typeface="Calibri"/>
              </a:rPr>
              <a:t>Destination change</a:t>
            </a:r>
          </a:p>
          <a:p>
            <a:pPr algn="l"/>
            <a:r>
              <a:rPr sz="1100" b="0" i="0">
                <a:solidFill>
                  <a:srgbClr val="63637E"/>
                </a:solidFill>
                <a:latin typeface="Calibri"/>
              </a:rPr>
              <a:t>cancel + re-plan</a:t>
            </a:r>
          </a:p>
        </p:txBody>
      </p:sp>
      <p:sp>
        <p:nvSpPr>
          <p:cNvPr id="8" name="Rounded Rectangle 7"/>
          <p:cNvSpPr/>
          <p:nvPr/>
        </p:nvSpPr>
        <p:spPr>
          <a:xfrm>
            <a:off x="3223260" y="5212080"/>
            <a:ext cx="2194560" cy="86868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60420" y="5230368"/>
            <a:ext cx="1920240" cy="822960"/>
          </a:xfrm>
          <a:prstGeom prst="rect">
            <a:avLst/>
          </a:prstGeom>
          <a:noFill/>
        </p:spPr>
        <p:txBody>
          <a:bodyPr wrap="square" lIns="0" rIns="0" tIns="0" bIns="0" anchor="ctr"/>
          <a:lstStyle/>
          <a:p>
            <a:pPr algn="l">
              <a:spcAft>
                <a:spcPts val="200"/>
              </a:spcAft>
            </a:pPr>
            <a:r>
              <a:rPr sz="1300" b="1" i="0">
                <a:solidFill>
                  <a:srgbClr val="14142B"/>
                </a:solidFill>
                <a:latin typeface="Calibri"/>
              </a:rPr>
              <a:t>Duplicate-booking trap</a:t>
            </a:r>
          </a:p>
          <a:p>
            <a:pPr algn="l"/>
            <a:r>
              <a:rPr sz="1100" b="0" i="0">
                <a:solidFill>
                  <a:srgbClr val="63637E"/>
                </a:solidFill>
                <a:latin typeface="Calibri"/>
              </a:rPr>
              <a:t>one booking, not three</a:t>
            </a:r>
          </a:p>
        </p:txBody>
      </p:sp>
      <p:sp>
        <p:nvSpPr>
          <p:cNvPr id="10" name="Rounded Rectangle 9"/>
          <p:cNvSpPr/>
          <p:nvPr/>
        </p:nvSpPr>
        <p:spPr>
          <a:xfrm>
            <a:off x="5577840" y="5212080"/>
            <a:ext cx="2194560" cy="86868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715000" y="5230368"/>
            <a:ext cx="1920240" cy="822960"/>
          </a:xfrm>
          <a:prstGeom prst="rect">
            <a:avLst/>
          </a:prstGeom>
          <a:noFill/>
        </p:spPr>
        <p:txBody>
          <a:bodyPr wrap="square" lIns="0" rIns="0" tIns="0" bIns="0" anchor="ctr"/>
          <a:lstStyle/>
          <a:p>
            <a:pPr algn="l">
              <a:spcAft>
                <a:spcPts val="200"/>
              </a:spcAft>
            </a:pPr>
            <a:r>
              <a:rPr sz="1300" b="1" i="0">
                <a:solidFill>
                  <a:srgbClr val="14142B"/>
                </a:solidFill>
                <a:latin typeface="Calibri"/>
              </a:rPr>
              <a:t>Ambiguous camera frame</a:t>
            </a:r>
          </a:p>
          <a:p>
            <a:pPr algn="l"/>
            <a:r>
              <a:rPr sz="1100" b="0" i="0">
                <a:solidFill>
                  <a:srgbClr val="63637E"/>
                </a:solidFill>
                <a:latin typeface="Calibri"/>
              </a:rPr>
              <a:t>asks, then answers</a:t>
            </a:r>
          </a:p>
        </p:txBody>
      </p:sp>
      <p:sp>
        <p:nvSpPr>
          <p:cNvPr id="12" name="TextBox 11"/>
          <p:cNvSpPr txBox="1"/>
          <p:nvPr/>
        </p:nvSpPr>
        <p:spPr>
          <a:xfrm>
            <a:off x="868680" y="6172200"/>
            <a:ext cx="6903720" cy="274320"/>
          </a:xfrm>
          <a:prstGeom prst="rect">
            <a:avLst/>
          </a:prstGeom>
          <a:noFill/>
        </p:spPr>
        <p:txBody>
          <a:bodyPr wrap="square" lIns="0" rIns="0" tIns="0" bIns="0" anchor="t"/>
          <a:lstStyle/>
          <a:p>
            <a:pPr algn="l"/>
            <a:r>
              <a:rPr sz="1100" b="1" i="0">
                <a:solidFill>
                  <a:srgbClr val="6D28D9"/>
                </a:solidFill>
                <a:latin typeface="Calibri"/>
              </a:rPr>
              <a:t>Video (max 5 min): </a:t>
            </a:r>
            <a:r>
              <a:rPr sz="1100" b="0" i="0">
                <a:solidFill>
                  <a:srgbClr val="63637E"/>
                </a:solidFill>
                <a:latin typeface="Calibri"/>
              </a:rPr>
              <a:t>[add YouTube or Drive link]</a:t>
            </a:r>
          </a:p>
        </p:txBody>
      </p:sp>
      <p:sp>
        <p:nvSpPr>
          <p:cNvPr id="13" name="TextBox 12"/>
          <p:cNvSpPr txBox="1"/>
          <p:nvPr/>
        </p:nvSpPr>
        <p:spPr>
          <a:xfrm>
            <a:off x="8092440" y="1645920"/>
            <a:ext cx="3291840" cy="274320"/>
          </a:xfrm>
          <a:prstGeom prst="rect">
            <a:avLst/>
          </a:prstGeom>
          <a:noFill/>
        </p:spPr>
        <p:txBody>
          <a:bodyPr wrap="square" lIns="0" rIns="0" tIns="0" bIns="0" anchor="t"/>
          <a:lstStyle/>
          <a:p>
            <a:pPr algn="l"/>
            <a:r>
              <a:rPr sz="1100" b="1" i="0">
                <a:solidFill>
                  <a:srgbClr val="6D28D9"/>
                </a:solidFill>
                <a:latin typeface="Calibri"/>
              </a:rPr>
              <a:t>SCENARIO S02, SECOND BY SECOND</a:t>
            </a:r>
          </a:p>
        </p:txBody>
      </p:sp>
      <p:sp>
        <p:nvSpPr>
          <p:cNvPr id="14" name="Rounded Rectangle 13"/>
          <p:cNvSpPr/>
          <p:nvPr/>
        </p:nvSpPr>
        <p:spPr>
          <a:xfrm>
            <a:off x="8092440" y="2011680"/>
            <a:ext cx="3218688" cy="1298448"/>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75320" y="2103120"/>
            <a:ext cx="2880360" cy="1143000"/>
          </a:xfrm>
          <a:prstGeom prst="rect">
            <a:avLst/>
          </a:prstGeom>
          <a:noFill/>
        </p:spPr>
        <p:txBody>
          <a:bodyPr wrap="square" lIns="0" rIns="0" tIns="0" bIns="0" anchor="t"/>
          <a:lstStyle/>
          <a:p>
            <a:pPr algn="l">
              <a:spcAft>
                <a:spcPts val="200"/>
              </a:spcAft>
            </a:pPr>
            <a:r>
              <a:rPr sz="1200" b="1" i="0">
                <a:solidFill>
                  <a:srgbClr val="6D28D9"/>
                </a:solidFill>
                <a:latin typeface="Calibri"/>
              </a:rPr>
              <a:t>0.4 s</a:t>
            </a:r>
          </a:p>
          <a:p>
            <a:pPr algn="l">
              <a:spcAft>
                <a:spcPts val="300"/>
              </a:spcAft>
            </a:pPr>
            <a:r>
              <a:rPr sz="1300" b="1" i="0">
                <a:solidFill>
                  <a:srgbClr val="14142B"/>
                </a:solidFill>
                <a:latin typeface="Calibri"/>
              </a:rPr>
              <a:t>“…to Delhi on October 5th.”</a:t>
            </a:r>
          </a:p>
          <a:p>
            <a:pPr algn="l"/>
            <a:r>
              <a:rPr sz="1200" b="0" i="0">
                <a:solidFill>
                  <a:srgbClr val="14142B"/>
                </a:solidFill>
                <a:latin typeface="Calibri"/>
              </a:rPr>
              <a:t>Speaks a progress line, starts flight_search to Delhi.</a:t>
            </a:r>
          </a:p>
        </p:txBody>
      </p:sp>
      <p:sp>
        <p:nvSpPr>
          <p:cNvPr id="16" name="Rounded Rectangle 15"/>
          <p:cNvSpPr/>
          <p:nvPr/>
        </p:nvSpPr>
        <p:spPr>
          <a:xfrm>
            <a:off x="8092440" y="3438144"/>
            <a:ext cx="3218688" cy="1298448"/>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75320" y="3529584"/>
            <a:ext cx="2880360" cy="1143000"/>
          </a:xfrm>
          <a:prstGeom prst="rect">
            <a:avLst/>
          </a:prstGeom>
          <a:noFill/>
        </p:spPr>
        <p:txBody>
          <a:bodyPr wrap="square" lIns="0" rIns="0" tIns="0" bIns="0" anchor="t"/>
          <a:lstStyle/>
          <a:p>
            <a:pPr algn="l">
              <a:spcAft>
                <a:spcPts val="200"/>
              </a:spcAft>
            </a:pPr>
            <a:r>
              <a:rPr sz="1200" b="1" i="0">
                <a:solidFill>
                  <a:srgbClr val="C23636"/>
                </a:solidFill>
                <a:latin typeface="Calibri"/>
              </a:rPr>
              <a:t>1.9 s</a:t>
            </a:r>
          </a:p>
          <a:p>
            <a:pPr algn="l">
              <a:spcAft>
                <a:spcPts val="300"/>
              </a:spcAft>
            </a:pPr>
            <a:r>
              <a:rPr sz="1300" b="1" i="0">
                <a:solidFill>
                  <a:srgbClr val="14142B"/>
                </a:solidFill>
                <a:latin typeface="Calibri"/>
              </a:rPr>
              <a:t>“Actually, make that Hyderabad.”</a:t>
            </a:r>
          </a:p>
          <a:p>
            <a:pPr algn="l"/>
            <a:r>
              <a:rPr sz="1200" b="0" i="0">
                <a:solidFill>
                  <a:srgbClr val="14142B"/>
                </a:solidFill>
                <a:latin typeface="Calibri"/>
              </a:rPr>
              <a:t>Cancels the Delhi call on the same tick, then searches Hyderabad.</a:t>
            </a:r>
          </a:p>
        </p:txBody>
      </p:sp>
      <p:sp>
        <p:nvSpPr>
          <p:cNvPr id="18" name="Rounded Rectangle 17"/>
          <p:cNvSpPr/>
          <p:nvPr/>
        </p:nvSpPr>
        <p:spPr>
          <a:xfrm>
            <a:off x="8092440" y="4864608"/>
            <a:ext cx="3218688" cy="1298448"/>
          </a:xfrm>
          <a:prstGeom prst="roundRect">
            <a:avLst>
              <a:gd name="adj" fmla="val 8000"/>
            </a:avLst>
          </a:prstGeom>
          <a:solidFill>
            <a:srgbClr val="E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75320" y="4956048"/>
            <a:ext cx="2880360" cy="1143000"/>
          </a:xfrm>
          <a:prstGeom prst="rect">
            <a:avLst/>
          </a:prstGeom>
          <a:noFill/>
        </p:spPr>
        <p:txBody>
          <a:bodyPr wrap="square" lIns="0" rIns="0" tIns="0" bIns="0" anchor="t"/>
          <a:lstStyle/>
          <a:p>
            <a:pPr algn="l">
              <a:spcAft>
                <a:spcPts val="200"/>
              </a:spcAft>
            </a:pPr>
            <a:r>
              <a:rPr sz="1200" b="1" i="0">
                <a:solidFill>
                  <a:srgbClr val="0F805A"/>
                </a:solidFill>
                <a:latin typeface="Calibri"/>
              </a:rPr>
              <a:t>4.9 s</a:t>
            </a:r>
          </a:p>
          <a:p>
            <a:pPr algn="l">
              <a:spcAft>
                <a:spcPts val="300"/>
              </a:spcAft>
            </a:pPr>
            <a:r>
              <a:rPr sz="1300" b="1" i="0">
                <a:solidFill>
                  <a:srgbClr val="14142B"/>
                </a:solidFill>
                <a:latin typeface="Calibri"/>
              </a:rPr>
              <a:t>Hyderabad result arrives</a:t>
            </a:r>
          </a:p>
          <a:p>
            <a:pPr algn="l"/>
            <a:r>
              <a:rPr sz="1200" b="0" i="0">
                <a:solidFill>
                  <a:srgbClr val="14142B"/>
                </a:solidFill>
                <a:latin typeface="Calibri"/>
              </a:rPr>
              <a:t>Final answer with 2 flights and a snapshot: destination = Hyderabad.</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36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Rounded Rectangle 2"/>
          <p:cNvSpPr/>
          <p:nvPr/>
        </p:nvSpPr>
        <p:spPr>
          <a:xfrm>
            <a:off x="868680" y="1691640"/>
            <a:ext cx="2487168" cy="214884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56232"/>
            <a:ext cx="2121408" cy="1874520"/>
          </a:xfrm>
          <a:prstGeom prst="rect">
            <a:avLst/>
          </a:prstGeom>
          <a:noFill/>
        </p:spPr>
        <p:txBody>
          <a:bodyPr wrap="square" lIns="0" rIns="0" tIns="0" bIns="0" anchor="t"/>
          <a:lstStyle/>
          <a:p>
            <a:pPr algn="l">
              <a:spcAft>
                <a:spcPts val="600"/>
              </a:spcAft>
            </a:pPr>
            <a:r>
              <a:rPr sz="1000" b="1" i="0">
                <a:solidFill>
                  <a:srgbClr val="6D28D9"/>
                </a:solidFill>
                <a:latin typeface="Calibri"/>
              </a:rPr>
              <a:t>RUNTIME</a:t>
            </a:r>
          </a:p>
          <a:p>
            <a:pPr algn="l">
              <a:spcAft>
                <a:spcPts val="800"/>
              </a:spcAft>
            </a:pPr>
            <a:r>
              <a:rPr sz="1600" b="1" i="0">
                <a:solidFill>
                  <a:srgbClr val="14142B"/>
                </a:solidFill>
                <a:latin typeface="Calibri"/>
              </a:rPr>
              <a:t>Python 3.10–3.12, asyncio</a:t>
            </a:r>
          </a:p>
          <a:p>
            <a:pPr algn="l"/>
            <a:r>
              <a:rPr sz="1350" b="0" i="0">
                <a:solidFill>
                  <a:srgbClr val="63637E"/>
                </a:solidFill>
                <a:latin typeface="Calibri"/>
              </a:rPr>
              <a:t>Stdlib-only core. One Agent per session, no module state.</a:t>
            </a:r>
          </a:p>
        </p:txBody>
      </p:sp>
      <p:sp>
        <p:nvSpPr>
          <p:cNvPr id="5" name="Rounded Rectangle 4"/>
          <p:cNvSpPr/>
          <p:nvPr/>
        </p:nvSpPr>
        <p:spPr>
          <a:xfrm>
            <a:off x="3538728" y="1691640"/>
            <a:ext cx="2487168" cy="214884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721608" y="1856232"/>
            <a:ext cx="2121408" cy="1874520"/>
          </a:xfrm>
          <a:prstGeom prst="rect">
            <a:avLst/>
          </a:prstGeom>
          <a:noFill/>
        </p:spPr>
        <p:txBody>
          <a:bodyPr wrap="square" lIns="0" rIns="0" tIns="0" bIns="0" anchor="t"/>
          <a:lstStyle/>
          <a:p>
            <a:pPr algn="l">
              <a:spcAft>
                <a:spcPts val="600"/>
              </a:spcAft>
            </a:pPr>
            <a:r>
              <a:rPr sz="1000" b="1" i="0">
                <a:solidFill>
                  <a:srgbClr val="6D28D9"/>
                </a:solidFill>
                <a:latin typeface="Calibri"/>
              </a:rPr>
              <a:t>SPEECH</a:t>
            </a:r>
          </a:p>
          <a:p>
            <a:pPr algn="l">
              <a:spcAft>
                <a:spcPts val="800"/>
              </a:spcAft>
            </a:pPr>
            <a:r>
              <a:rPr sz="1600" b="1" i="0">
                <a:solidFill>
                  <a:srgbClr val="14142B"/>
                </a:solidFill>
                <a:latin typeface="Calibri"/>
              </a:rPr>
              <a:t>faster-whisper base.en, int8</a:t>
            </a:r>
          </a:p>
          <a:p>
            <a:pPr algn="l"/>
            <a:r>
              <a:rPr sz="1350" b="0" i="0">
                <a:solidFill>
                  <a:srgbClr val="63637E"/>
                </a:solidFill>
                <a:latin typeface="Calibri"/>
              </a:rPr>
              <a:t>Best CPU accuracy per second; CTranslate2, no PyTorch.</a:t>
            </a:r>
          </a:p>
        </p:txBody>
      </p:sp>
      <p:sp>
        <p:nvSpPr>
          <p:cNvPr id="7" name="Rounded Rectangle 6"/>
          <p:cNvSpPr/>
          <p:nvPr/>
        </p:nvSpPr>
        <p:spPr>
          <a:xfrm>
            <a:off x="6208776" y="1691640"/>
            <a:ext cx="2487168" cy="214884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391656" y="1856232"/>
            <a:ext cx="2121408" cy="1874520"/>
          </a:xfrm>
          <a:prstGeom prst="rect">
            <a:avLst/>
          </a:prstGeom>
          <a:noFill/>
        </p:spPr>
        <p:txBody>
          <a:bodyPr wrap="square" lIns="0" rIns="0" tIns="0" bIns="0" anchor="t"/>
          <a:lstStyle/>
          <a:p>
            <a:pPr algn="l">
              <a:spcAft>
                <a:spcPts val="600"/>
              </a:spcAft>
            </a:pPr>
            <a:r>
              <a:rPr sz="1000" b="1" i="0">
                <a:solidFill>
                  <a:srgbClr val="6D28D9"/>
                </a:solidFill>
                <a:latin typeface="Calibri"/>
              </a:rPr>
              <a:t>VISION</a:t>
            </a:r>
          </a:p>
          <a:p>
            <a:pPr algn="l">
              <a:spcAft>
                <a:spcPts val="800"/>
              </a:spcAft>
            </a:pPr>
            <a:r>
              <a:rPr sz="1600" b="1" i="0">
                <a:solidFill>
                  <a:srgbClr val="14142B"/>
                </a:solidFill>
                <a:latin typeface="Calibri"/>
              </a:rPr>
              <a:t>RapidOCR (ONNX)</a:t>
            </a:r>
          </a:p>
          <a:p>
            <a:pPr algn="l"/>
            <a:r>
              <a:rPr sz="1350" b="0" i="0">
                <a:solidFill>
                  <a:srgbClr val="63637E"/>
                </a:solidFill>
                <a:latin typeface="Calibri"/>
              </a:rPr>
              <a:t>Reads display codes and model labels. Weights ship in the wheel.</a:t>
            </a:r>
          </a:p>
        </p:txBody>
      </p:sp>
      <p:sp>
        <p:nvSpPr>
          <p:cNvPr id="9" name="Rounded Rectangle 8"/>
          <p:cNvSpPr/>
          <p:nvPr/>
        </p:nvSpPr>
        <p:spPr>
          <a:xfrm>
            <a:off x="8878824" y="1691640"/>
            <a:ext cx="2487168" cy="214884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061704" y="1856232"/>
            <a:ext cx="2121408" cy="1874520"/>
          </a:xfrm>
          <a:prstGeom prst="rect">
            <a:avLst/>
          </a:prstGeom>
          <a:noFill/>
        </p:spPr>
        <p:txBody>
          <a:bodyPr wrap="square" lIns="0" rIns="0" tIns="0" bIns="0" anchor="t"/>
          <a:lstStyle/>
          <a:p>
            <a:pPr algn="l">
              <a:spcAft>
                <a:spcPts val="600"/>
              </a:spcAft>
            </a:pPr>
            <a:r>
              <a:rPr sz="1000" b="1" i="0">
                <a:solidFill>
                  <a:srgbClr val="6D28D9"/>
                </a:solidFill>
                <a:latin typeface="Calibri"/>
              </a:rPr>
              <a:t>LANGUAGE MODEL</a:t>
            </a:r>
          </a:p>
          <a:p>
            <a:pPr algn="l">
              <a:spcAft>
                <a:spcPts val="800"/>
              </a:spcAft>
            </a:pPr>
            <a:r>
              <a:rPr sz="1600" b="1" i="0">
                <a:solidFill>
                  <a:srgbClr val="14142B"/>
                </a:solidFill>
                <a:latin typeface="Calibri"/>
              </a:rPr>
              <a:t>Optional plug-in</a:t>
            </a:r>
          </a:p>
          <a:p>
            <a:pPr algn="l"/>
            <a:r>
              <a:rPr sz="1350" b="0" i="0">
                <a:solidFill>
                  <a:srgbClr val="63637E"/>
                </a:solidFill>
                <a:latin typeface="Calibri"/>
              </a:rPr>
              <a:t>2 s budget with a rule fallback. Never on the fast path.</a:t>
            </a:r>
          </a:p>
        </p:txBody>
      </p:sp>
      <p:sp>
        <p:nvSpPr>
          <p:cNvPr id="11" name="Rounded Rectangle 10"/>
          <p:cNvSpPr/>
          <p:nvPr/>
        </p:nvSpPr>
        <p:spPr>
          <a:xfrm>
            <a:off x="868680" y="4069080"/>
            <a:ext cx="2487168" cy="21488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51560" y="4233672"/>
            <a:ext cx="2121408" cy="1874520"/>
          </a:xfrm>
          <a:prstGeom prst="rect">
            <a:avLst/>
          </a:prstGeom>
          <a:noFill/>
        </p:spPr>
        <p:txBody>
          <a:bodyPr wrap="square" lIns="0" rIns="0" tIns="0" bIns="0" anchor="t"/>
          <a:lstStyle/>
          <a:p>
            <a:pPr algn="l">
              <a:spcAft>
                <a:spcPts val="600"/>
              </a:spcAft>
            </a:pPr>
            <a:r>
              <a:rPr sz="1000" b="1" i="0">
                <a:solidFill>
                  <a:srgbClr val="6D28D9"/>
                </a:solidFill>
                <a:latin typeface="Calibri"/>
              </a:rPr>
              <a:t>TESTING</a:t>
            </a:r>
          </a:p>
          <a:p>
            <a:pPr algn="l">
              <a:spcAft>
                <a:spcPts val="800"/>
              </a:spcAft>
            </a:pPr>
            <a:r>
              <a:rPr sz="1600" b="1" i="0">
                <a:solidFill>
                  <a:srgbClr val="14142B"/>
                </a:solidFill>
                <a:latin typeface="Calibri"/>
              </a:rPr>
              <a:t>pytest, 458 tests</a:t>
            </a:r>
          </a:p>
          <a:p>
            <a:pPr algn="l"/>
            <a:r>
              <a:rPr sz="1350" b="0" i="0">
                <a:solidFill>
                  <a:srgbClr val="63637E"/>
                </a:solidFill>
                <a:latin typeface="Calibri"/>
              </a:rPr>
              <a:t>Plus protocol fuzzing: 60,000 malformed events, zero crashes.</a:t>
            </a:r>
          </a:p>
        </p:txBody>
      </p:sp>
      <p:sp>
        <p:nvSpPr>
          <p:cNvPr id="13" name="Rounded Rectangle 12"/>
          <p:cNvSpPr/>
          <p:nvPr/>
        </p:nvSpPr>
        <p:spPr>
          <a:xfrm>
            <a:off x="3538728" y="4069080"/>
            <a:ext cx="2487168" cy="21488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721608" y="4233672"/>
            <a:ext cx="2121408" cy="1874520"/>
          </a:xfrm>
          <a:prstGeom prst="rect">
            <a:avLst/>
          </a:prstGeom>
          <a:noFill/>
        </p:spPr>
        <p:txBody>
          <a:bodyPr wrap="square" lIns="0" rIns="0" tIns="0" bIns="0" anchor="t"/>
          <a:lstStyle/>
          <a:p>
            <a:pPr algn="l">
              <a:spcAft>
                <a:spcPts val="600"/>
              </a:spcAft>
            </a:pPr>
            <a:r>
              <a:rPr sz="1000" b="1" i="0">
                <a:solidFill>
                  <a:srgbClr val="6D28D9"/>
                </a:solidFill>
                <a:latin typeface="Calibri"/>
              </a:rPr>
              <a:t>EVALUATION</a:t>
            </a:r>
          </a:p>
          <a:p>
            <a:pPr algn="l">
              <a:spcAft>
                <a:spcPts val="800"/>
              </a:spcAft>
            </a:pPr>
            <a:r>
              <a:rPr sz="1600" b="1" i="0">
                <a:solidFill>
                  <a:srgbClr val="14142B"/>
                </a:solidFill>
                <a:latin typeface="Calibri"/>
              </a:rPr>
              <a:t>Own harness + scorer</a:t>
            </a:r>
          </a:p>
          <a:p>
            <a:pPr algn="l"/>
            <a:r>
              <a:rPr sz="1350" b="0" i="0">
                <a:solidFill>
                  <a:srgbClr val="63637E"/>
                </a:solidFill>
                <a:latin typeface="Calibri"/>
              </a:rPr>
              <a:t>Virtual-clock sim and a rubric replica with 50 documented assumptions.</a:t>
            </a:r>
          </a:p>
        </p:txBody>
      </p:sp>
      <p:sp>
        <p:nvSpPr>
          <p:cNvPr id="15" name="Rounded Rectangle 14"/>
          <p:cNvSpPr/>
          <p:nvPr/>
        </p:nvSpPr>
        <p:spPr>
          <a:xfrm>
            <a:off x="6208776" y="4069080"/>
            <a:ext cx="2487168" cy="21488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91656" y="4233672"/>
            <a:ext cx="2121408" cy="1874520"/>
          </a:xfrm>
          <a:prstGeom prst="rect">
            <a:avLst/>
          </a:prstGeom>
          <a:noFill/>
        </p:spPr>
        <p:txBody>
          <a:bodyPr wrap="square" lIns="0" rIns="0" tIns="0" bIns="0" anchor="t"/>
          <a:lstStyle/>
          <a:p>
            <a:pPr algn="l">
              <a:spcAft>
                <a:spcPts val="600"/>
              </a:spcAft>
            </a:pPr>
            <a:r>
              <a:rPr sz="1000" b="1" i="0">
                <a:solidFill>
                  <a:srgbClr val="6D28D9"/>
                </a:solidFill>
                <a:latin typeface="Calibri"/>
              </a:rPr>
              <a:t>DELIVERY</a:t>
            </a:r>
          </a:p>
          <a:p>
            <a:pPr algn="l">
              <a:spcAft>
                <a:spcPts val="800"/>
              </a:spcAft>
            </a:pPr>
            <a:r>
              <a:rPr sz="1600" b="1" i="0">
                <a:solidFill>
                  <a:srgbClr val="14142B"/>
                </a:solidFill>
                <a:latin typeface="Calibri"/>
              </a:rPr>
              <a:t>Docker, 1.01 GB</a:t>
            </a:r>
          </a:p>
          <a:p>
            <a:pPr algn="l"/>
            <a:r>
              <a:rPr sz="1350" b="0" i="0">
                <a:solidFill>
                  <a:srgbClr val="63637E"/>
                </a:solidFill>
                <a:latin typeface="Calibri"/>
              </a:rPr>
              <a:t>Whisper weights baked in, runs offline. python -m theme5 serve for JSONL.</a:t>
            </a:r>
          </a:p>
        </p:txBody>
      </p:sp>
      <p:sp>
        <p:nvSpPr>
          <p:cNvPr id="17" name="Rounded Rectangle 16"/>
          <p:cNvSpPr/>
          <p:nvPr/>
        </p:nvSpPr>
        <p:spPr>
          <a:xfrm>
            <a:off x="8878824" y="4069080"/>
            <a:ext cx="2487168" cy="21488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061704" y="4233672"/>
            <a:ext cx="2121408" cy="1874520"/>
          </a:xfrm>
          <a:prstGeom prst="rect">
            <a:avLst/>
          </a:prstGeom>
          <a:noFill/>
        </p:spPr>
        <p:txBody>
          <a:bodyPr wrap="square" lIns="0" rIns="0" tIns="0" bIns="0" anchor="t"/>
          <a:lstStyle/>
          <a:p>
            <a:pPr algn="l">
              <a:spcAft>
                <a:spcPts val="600"/>
              </a:spcAft>
            </a:pPr>
            <a:r>
              <a:rPr sz="1000" b="1" i="0">
                <a:solidFill>
                  <a:srgbClr val="6D28D9"/>
                </a:solidFill>
                <a:latin typeface="Calibri"/>
              </a:rPr>
              <a:t>CI AND DEMO</a:t>
            </a:r>
          </a:p>
          <a:p>
            <a:pPr algn="l">
              <a:spcAft>
                <a:spcPts val="800"/>
              </a:spcAft>
            </a:pPr>
            <a:r>
              <a:rPr sz="1600" b="1" i="0">
                <a:solidFill>
                  <a:srgbClr val="14142B"/>
                </a:solidFill>
                <a:latin typeface="Calibri"/>
              </a:rPr>
              <a:t>GitHub Actions + trace viewer</a:t>
            </a:r>
          </a:p>
          <a:p>
            <a:pPr algn="l"/>
            <a:r>
              <a:rPr sz="1350" b="0" i="0">
                <a:solidFill>
                  <a:srgbClr val="63637E"/>
                </a:solidFill>
                <a:latin typeface="Calibri"/>
              </a:rPr>
              <a:t>Build, real-weights Whisper test, all tests, demo. Single-file HTML viewer.</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36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Rounded Rectangle 2"/>
          <p:cNvSpPr/>
          <p:nvPr/>
        </p:nvSpPr>
        <p:spPr>
          <a:xfrm>
            <a:off x="868680" y="1691640"/>
            <a:ext cx="5129784" cy="160020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97280" y="1828800"/>
            <a:ext cx="4663440" cy="1371600"/>
          </a:xfrm>
          <a:prstGeom prst="rect">
            <a:avLst/>
          </a:prstGeom>
          <a:noFill/>
        </p:spPr>
        <p:txBody>
          <a:bodyPr wrap="square" lIns="0" rIns="0" tIns="0" bIns="0" anchor="t"/>
          <a:lstStyle/>
          <a:p>
            <a:pPr algn="l">
              <a:spcAft>
                <a:spcPts val="400"/>
              </a:spcAft>
            </a:pPr>
            <a:r>
              <a:rPr sz="1600" b="1" i="0">
                <a:solidFill>
                  <a:srgbClr val="6D28D9"/>
                </a:solidFill>
                <a:latin typeface="Calibri"/>
              </a:rPr>
              <a:t>In-car, hands-free</a:t>
            </a:r>
          </a:p>
          <a:p>
            <a:pPr algn="l">
              <a:spcAft>
                <a:spcPts val="400"/>
              </a:spcAft>
            </a:pPr>
            <a:r>
              <a:rPr sz="1300" b="0" i="1">
                <a:solidFill>
                  <a:srgbClr val="14142B"/>
                </a:solidFill>
                <a:latin typeface="Calibri"/>
              </a:rPr>
              <a:t>The destination changes while the route search runs.</a:t>
            </a:r>
          </a:p>
          <a:p>
            <a:pPr algn="l"/>
            <a:r>
              <a:rPr sz="1300" b="0" i="0">
                <a:solidFill>
                  <a:srgbClr val="14142B"/>
                </a:solidFill>
                <a:latin typeface="Calibri"/>
              </a:rPr>
              <a:t>The stale call is cancelled on the same tick; its late result is dropped.</a:t>
            </a:r>
          </a:p>
        </p:txBody>
      </p:sp>
      <p:sp>
        <p:nvSpPr>
          <p:cNvPr id="5" name="Rounded Rectangle 4"/>
          <p:cNvSpPr/>
          <p:nvPr/>
        </p:nvSpPr>
        <p:spPr>
          <a:xfrm>
            <a:off x="6181344" y="1691640"/>
            <a:ext cx="5129784" cy="160020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9944" y="1828800"/>
            <a:ext cx="4663440" cy="1371600"/>
          </a:xfrm>
          <a:prstGeom prst="rect">
            <a:avLst/>
          </a:prstGeom>
          <a:noFill/>
        </p:spPr>
        <p:txBody>
          <a:bodyPr wrap="square" lIns="0" rIns="0" tIns="0" bIns="0" anchor="t"/>
          <a:lstStyle/>
          <a:p>
            <a:pPr algn="l">
              <a:spcAft>
                <a:spcPts val="400"/>
              </a:spcAft>
            </a:pPr>
            <a:r>
              <a:rPr sz="1600" b="1" i="0">
                <a:solidFill>
                  <a:srgbClr val="6D28D9"/>
                </a:solidFill>
                <a:latin typeface="Calibri"/>
              </a:rPr>
              <a:t>Customer support</a:t>
            </a:r>
          </a:p>
          <a:p>
            <a:pPr algn="l">
              <a:spcAft>
                <a:spcPts val="400"/>
              </a:spcAft>
            </a:pPr>
            <a:r>
              <a:rPr sz="1300" b="0" i="1">
                <a:solidFill>
                  <a:srgbClr val="14142B"/>
                </a:solidFill>
                <a:latin typeface="Calibri"/>
              </a:rPr>
              <a:t>The customer changes details mid-booking.</a:t>
            </a:r>
          </a:p>
          <a:p>
            <a:pPr algn="l"/>
            <a:r>
              <a:rPr sz="1300" b="0" i="0">
                <a:solidFill>
                  <a:srgbClr val="14142B"/>
                </a:solidFill>
                <a:latin typeface="Calibri"/>
              </a:rPr>
              <a:t>The ledger blocks a second write; changes go through a modify tool or are refused.</a:t>
            </a:r>
          </a:p>
        </p:txBody>
      </p:sp>
      <p:sp>
        <p:nvSpPr>
          <p:cNvPr id="7" name="Rounded Rectangle 6"/>
          <p:cNvSpPr/>
          <p:nvPr/>
        </p:nvSpPr>
        <p:spPr>
          <a:xfrm>
            <a:off x="868680" y="3474720"/>
            <a:ext cx="5129784" cy="160020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97280" y="3611879"/>
            <a:ext cx="4663440" cy="1371600"/>
          </a:xfrm>
          <a:prstGeom prst="rect">
            <a:avLst/>
          </a:prstGeom>
          <a:noFill/>
        </p:spPr>
        <p:txBody>
          <a:bodyPr wrap="square" lIns="0" rIns="0" tIns="0" bIns="0" anchor="t"/>
          <a:lstStyle/>
          <a:p>
            <a:pPr algn="l">
              <a:spcAft>
                <a:spcPts val="400"/>
              </a:spcAft>
            </a:pPr>
            <a:r>
              <a:rPr sz="1600" b="1" i="0">
                <a:solidFill>
                  <a:srgbClr val="6D28D9"/>
                </a:solidFill>
                <a:latin typeface="Calibri"/>
              </a:rPr>
              <a:t>Field troubleshooting</a:t>
            </a:r>
          </a:p>
          <a:p>
            <a:pPr algn="l">
              <a:spcAft>
                <a:spcPts val="400"/>
              </a:spcAft>
            </a:pPr>
            <a:r>
              <a:rPr sz="1300" b="0" i="1">
                <a:solidFill>
                  <a:srgbClr val="14142B"/>
                </a:solidFill>
                <a:latin typeface="Calibri"/>
              </a:rPr>
              <a:t>“How do I fix the error on this?” with the camera on.</a:t>
            </a:r>
          </a:p>
          <a:p>
            <a:pPr algn="l"/>
            <a:r>
              <a:rPr sz="1300" b="0" i="0">
                <a:solidFill>
                  <a:srgbClr val="14142B"/>
                </a:solidFill>
                <a:latin typeface="Calibri"/>
              </a:rPr>
              <a:t>Frames are grounded into device and error code; an unclear frame gets one question.</a:t>
            </a:r>
          </a:p>
        </p:txBody>
      </p:sp>
      <p:sp>
        <p:nvSpPr>
          <p:cNvPr id="9" name="Rounded Rectangle 8"/>
          <p:cNvSpPr/>
          <p:nvPr/>
        </p:nvSpPr>
        <p:spPr>
          <a:xfrm>
            <a:off x="6181344" y="3474720"/>
            <a:ext cx="5129784" cy="160020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9944" y="3611879"/>
            <a:ext cx="4663440" cy="1371600"/>
          </a:xfrm>
          <a:prstGeom prst="rect">
            <a:avLst/>
          </a:prstGeom>
          <a:noFill/>
        </p:spPr>
        <p:txBody>
          <a:bodyPr wrap="square" lIns="0" rIns="0" tIns="0" bIns="0" anchor="t"/>
          <a:lstStyle/>
          <a:p>
            <a:pPr algn="l">
              <a:spcAft>
                <a:spcPts val="400"/>
              </a:spcAft>
            </a:pPr>
            <a:r>
              <a:rPr sz="1600" b="1" i="0">
                <a:solidFill>
                  <a:srgbClr val="6D28D9"/>
                </a:solidFill>
                <a:latin typeface="Calibri"/>
              </a:rPr>
              <a:t>Accessibility</a:t>
            </a:r>
          </a:p>
          <a:p>
            <a:pPr algn="l">
              <a:spcAft>
                <a:spcPts val="400"/>
              </a:spcAft>
            </a:pPr>
            <a:r>
              <a:rPr sz="1300" b="0" i="1">
                <a:solidFill>
                  <a:srgbClr val="14142B"/>
                </a:solidFill>
                <a:latin typeface="Calibri"/>
              </a:rPr>
              <a:t>“Delhi, uh, no, Hyderabad.” Hesitations and self-repairs.</a:t>
            </a:r>
          </a:p>
          <a:p>
            <a:pPr algn="l"/>
            <a:r>
              <a:rPr sz="1300" b="0" i="0">
                <a:solidFill>
                  <a:srgbClr val="14142B"/>
                </a:solidFill>
                <a:latin typeface="Calibri"/>
              </a:rPr>
              <a:t>Repair parsing changes only the corrected slot and keeps the rest.</a:t>
            </a:r>
          </a:p>
        </p:txBody>
      </p:sp>
      <p:sp>
        <p:nvSpPr>
          <p:cNvPr id="11" name="Rounded Rectangle 10"/>
          <p:cNvSpPr/>
          <p:nvPr/>
        </p:nvSpPr>
        <p:spPr>
          <a:xfrm>
            <a:off x="868680" y="5349240"/>
            <a:ext cx="10442448" cy="96012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43000" y="5394960"/>
            <a:ext cx="9966960" cy="868680"/>
          </a:xfrm>
          <a:prstGeom prst="rect">
            <a:avLst/>
          </a:prstGeom>
          <a:noFill/>
        </p:spPr>
        <p:txBody>
          <a:bodyPr wrap="square" lIns="0" rIns="0" tIns="0" bIns="0" anchor="ctr"/>
          <a:lstStyle/>
          <a:p>
            <a:pPr algn="l"/>
            <a:r>
              <a:rPr sz="1500" b="1" i="0">
                <a:solidFill>
                  <a:srgbClr val="FFFFFF"/>
                </a:solidFill>
                <a:latin typeface="Calibri"/>
              </a:rPr>
              <a:t>Why it matters for Samsung devices: </a:t>
            </a:r>
            <a:r>
              <a:rPr sz="1500" b="0" i="0">
                <a:solidFill>
                  <a:srgbClr val="FFFFFF"/>
                </a:solidFill>
                <a:latin typeface="Calibri"/>
              </a:rPr>
              <a:t>phones, cars and appliances need barge-in recovery without a network round trip. Our fast path answers in 0.69 ms (median) and runs offline.</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36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Rounded Rectangle 2"/>
          <p:cNvSpPr/>
          <p:nvPr/>
        </p:nvSpPr>
        <p:spPr>
          <a:xfrm>
            <a:off x="868680" y="1645920"/>
            <a:ext cx="2496312" cy="1572768"/>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719072"/>
            <a:ext cx="2194560" cy="1463040"/>
          </a:xfrm>
          <a:prstGeom prst="rect">
            <a:avLst/>
          </a:prstGeom>
          <a:noFill/>
        </p:spPr>
        <p:txBody>
          <a:bodyPr wrap="square" lIns="0" rIns="0" tIns="0" bIns="0" anchor="t"/>
          <a:lstStyle/>
          <a:p>
            <a:pPr algn="l"/>
            <a:r>
              <a:rPr sz="3200" b="1" i="0">
                <a:solidFill>
                  <a:srgbClr val="6D28D9"/>
                </a:solidFill>
                <a:latin typeface="Calibri"/>
              </a:rPr>
              <a:t>100.0</a:t>
            </a:r>
          </a:p>
          <a:p>
            <a:pPr algn="l"/>
            <a:r>
              <a:rPr sz="1200" b="1" i="0">
                <a:solidFill>
                  <a:srgbClr val="14142B"/>
                </a:solidFill>
                <a:latin typeface="Calibri"/>
              </a:rPr>
              <a:t>60-scenario adversarial bench</a:t>
            </a:r>
          </a:p>
          <a:p>
            <a:pPr algn="l"/>
            <a:r>
              <a:rPr sz="1100" b="0" i="0">
                <a:solidFill>
                  <a:srgbClr val="63637E"/>
                </a:solidFill>
                <a:latin typeface="Calibri"/>
              </a:rPr>
              <a:t>and 100.0 on a held-out seed</a:t>
            </a:r>
          </a:p>
        </p:txBody>
      </p:sp>
      <p:sp>
        <p:nvSpPr>
          <p:cNvPr id="5" name="Rounded Rectangle 4"/>
          <p:cNvSpPr/>
          <p:nvPr/>
        </p:nvSpPr>
        <p:spPr>
          <a:xfrm>
            <a:off x="3547872" y="1645920"/>
            <a:ext cx="2496312" cy="1572768"/>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730752" y="1719072"/>
            <a:ext cx="2194560" cy="1463040"/>
          </a:xfrm>
          <a:prstGeom prst="rect">
            <a:avLst/>
          </a:prstGeom>
          <a:noFill/>
        </p:spPr>
        <p:txBody>
          <a:bodyPr wrap="square" lIns="0" rIns="0" tIns="0" bIns="0" anchor="t"/>
          <a:lstStyle/>
          <a:p>
            <a:pPr algn="l"/>
            <a:r>
              <a:rPr sz="3200" b="1" i="0">
                <a:solidFill>
                  <a:srgbClr val="6D28D9"/>
                </a:solidFill>
                <a:latin typeface="Calibri"/>
              </a:rPr>
              <a:t>9 / 9</a:t>
            </a:r>
          </a:p>
          <a:p>
            <a:pPr algn="l"/>
            <a:r>
              <a:rPr sz="1200" b="1" i="0">
                <a:solidFill>
                  <a:srgbClr val="14142B"/>
                </a:solidFill>
                <a:latin typeface="Calibri"/>
              </a:rPr>
              <a:t>public-style scenarios pass</a:t>
            </a:r>
          </a:p>
          <a:p>
            <a:pPr algn="l"/>
            <a:r>
              <a:rPr sz="1100" b="0" i="0">
                <a:solidFill>
                  <a:srgbClr val="63637E"/>
                </a:solidFill>
                <a:latin typeface="Calibri"/>
              </a:rPr>
              <a:t>mirroring the 9 in the guide</a:t>
            </a:r>
          </a:p>
        </p:txBody>
      </p:sp>
      <p:sp>
        <p:nvSpPr>
          <p:cNvPr id="7" name="Rounded Rectangle 6"/>
          <p:cNvSpPr/>
          <p:nvPr/>
        </p:nvSpPr>
        <p:spPr>
          <a:xfrm>
            <a:off x="6227064" y="1645920"/>
            <a:ext cx="2496312" cy="1572768"/>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9944" y="1719072"/>
            <a:ext cx="2194560" cy="1463040"/>
          </a:xfrm>
          <a:prstGeom prst="rect">
            <a:avLst/>
          </a:prstGeom>
          <a:noFill/>
        </p:spPr>
        <p:txBody>
          <a:bodyPr wrap="square" lIns="0" rIns="0" tIns="0" bIns="0" anchor="t"/>
          <a:lstStyle/>
          <a:p>
            <a:pPr algn="l"/>
            <a:r>
              <a:rPr sz="3200" b="1" i="0">
                <a:solidFill>
                  <a:srgbClr val="6D28D9"/>
                </a:solidFill>
                <a:latin typeface="Calibri"/>
              </a:rPr>
              <a:t>0.69 ms</a:t>
            </a:r>
          </a:p>
          <a:p>
            <a:pPr algn="l"/>
            <a:r>
              <a:rPr sz="1200" b="1" i="0">
                <a:solidFill>
                  <a:srgbClr val="14142B"/>
                </a:solidFill>
                <a:latin typeface="Calibri"/>
              </a:rPr>
              <a:t>median time to first spoken action</a:t>
            </a:r>
          </a:p>
          <a:p>
            <a:pPr algn="l"/>
            <a:r>
              <a:rPr sz="1100" b="0" i="0">
                <a:solidFill>
                  <a:srgbClr val="63637E"/>
                </a:solidFill>
                <a:latin typeface="Calibri"/>
              </a:rPr>
              <a:t>p95 1.27 ms</a:t>
            </a:r>
          </a:p>
        </p:txBody>
      </p:sp>
      <p:sp>
        <p:nvSpPr>
          <p:cNvPr id="9" name="Rounded Rectangle 8"/>
          <p:cNvSpPr/>
          <p:nvPr/>
        </p:nvSpPr>
        <p:spPr>
          <a:xfrm>
            <a:off x="8906256" y="1645920"/>
            <a:ext cx="2496312" cy="1572768"/>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089136" y="1719072"/>
            <a:ext cx="2194560" cy="1463040"/>
          </a:xfrm>
          <a:prstGeom prst="rect">
            <a:avLst/>
          </a:prstGeom>
          <a:noFill/>
        </p:spPr>
        <p:txBody>
          <a:bodyPr wrap="square" lIns="0" rIns="0" tIns="0" bIns="0" anchor="t"/>
          <a:lstStyle/>
          <a:p>
            <a:pPr algn="l"/>
            <a:r>
              <a:rPr sz="3200" b="1" i="0">
                <a:solidFill>
                  <a:srgbClr val="6D28D9"/>
                </a:solidFill>
                <a:latin typeface="Calibri"/>
              </a:rPr>
              <a:t>0</a:t>
            </a:r>
          </a:p>
          <a:p>
            <a:pPr algn="l"/>
            <a:r>
              <a:rPr sz="1200" b="1" i="0">
                <a:solidFill>
                  <a:srgbClr val="14142B"/>
                </a:solidFill>
                <a:latin typeface="Calibri"/>
              </a:rPr>
              <a:t>crashes in 60,000 fuzzed events</a:t>
            </a:r>
          </a:p>
          <a:p>
            <a:pPr algn="l"/>
            <a:r>
              <a:rPr sz="1100" b="0" i="0">
                <a:solidFill>
                  <a:srgbClr val="63637E"/>
                </a:solidFill>
                <a:latin typeface="Calibri"/>
              </a:rPr>
              <a:t>malformed, missing, out of order</a:t>
            </a:r>
          </a:p>
        </p:txBody>
      </p:sp>
      <p:sp>
        <p:nvSpPr>
          <p:cNvPr id="11" name="TextBox 10"/>
          <p:cNvSpPr txBox="1"/>
          <p:nvPr/>
        </p:nvSpPr>
        <p:spPr>
          <a:xfrm>
            <a:off x="868680" y="3273552"/>
            <a:ext cx="10424160" cy="274320"/>
          </a:xfrm>
          <a:prstGeom prst="rect">
            <a:avLst/>
          </a:prstGeom>
          <a:noFill/>
        </p:spPr>
        <p:txBody>
          <a:bodyPr wrap="square" lIns="0" rIns="0" tIns="0" bIns="0" anchor="t"/>
          <a:lstStyle/>
          <a:p>
            <a:pPr algn="l"/>
            <a:r>
              <a:rPr sz="1100" b="0" i="1">
                <a:solidFill>
                  <a:srgbClr val="A85A00"/>
                </a:solidFill>
                <a:latin typeface="Calibri"/>
              </a:rPr>
              <a:t>All scores come from our own simulator and rubric replica. The official evaluation kit is not released yet.</a:t>
            </a:r>
          </a:p>
        </p:txBody>
      </p:sp>
      <p:sp>
        <p:nvSpPr>
          <p:cNvPr id="12" name="TextBox 11"/>
          <p:cNvSpPr txBox="1"/>
          <p:nvPr/>
        </p:nvSpPr>
        <p:spPr>
          <a:xfrm>
            <a:off x="868680" y="3657600"/>
            <a:ext cx="5029200" cy="274320"/>
          </a:xfrm>
          <a:prstGeom prst="rect">
            <a:avLst/>
          </a:prstGeom>
          <a:noFill/>
        </p:spPr>
        <p:txBody>
          <a:bodyPr wrap="square" lIns="0" rIns="0" tIns="0" bIns="0" anchor="t"/>
          <a:lstStyle/>
          <a:p>
            <a:pPr algn="l"/>
            <a:r>
              <a:rPr sz="1100" b="1" i="0">
                <a:solidFill>
                  <a:srgbClr val="6D28D9"/>
                </a:solidFill>
                <a:latin typeface="Calibri"/>
              </a:rPr>
              <a:t>INNOVATION HIGHLIGHTS</a:t>
            </a:r>
          </a:p>
        </p:txBody>
      </p:sp>
      <p:sp>
        <p:nvSpPr>
          <p:cNvPr id="13" name="TextBox 12"/>
          <p:cNvSpPr txBox="1"/>
          <p:nvPr/>
        </p:nvSpPr>
        <p:spPr>
          <a:xfrm>
            <a:off x="868680" y="3977639"/>
            <a:ext cx="5029200" cy="2377440"/>
          </a:xfrm>
          <a:prstGeom prst="rect">
            <a:avLst/>
          </a:prstGeom>
          <a:noFill/>
        </p:spPr>
        <p:txBody>
          <a:bodyPr wrap="square" lIns="0" rIns="0" tIns="0" bIns="0" anchor="t"/>
          <a:lstStyle/>
          <a:p>
            <a:pPr algn="l" marL="182880" indent="-182880">
              <a:spcAft>
                <a:spcPts val="800"/>
              </a:spcAft>
              <a:buChar char="•"/>
            </a:pPr>
            <a:r>
              <a:rPr sz="1300" b="0" i="0">
                <a:solidFill>
                  <a:srgbClr val="14142B"/>
                </a:solidFill>
                <a:latin typeface="Calibri"/>
              </a:rPr>
              <a:t>Diff, don't flush: calls a correction leaves valid are kept, only the rest are cancelled.</a:t>
            </a:r>
          </a:p>
          <a:p>
            <a:pPr algn="l" marL="182880" indent="-182880">
              <a:spcAft>
                <a:spcPts val="800"/>
              </a:spcAft>
              <a:buChar char="•"/>
            </a:pPr>
            <a:r>
              <a:rPr sz="1300" b="0" i="0">
                <a:solidFill>
                  <a:srgbClr val="14142B"/>
                </a:solidFill>
                <a:latin typeface="Calibri"/>
              </a:rPr>
              <a:t>Speculative read-only calls on partial turns, adopted or cancelled at end of turn.</a:t>
            </a:r>
          </a:p>
          <a:p>
            <a:pPr algn="l" marL="182880" indent="-182880">
              <a:spcAft>
                <a:spcPts val="800"/>
              </a:spcAft>
              <a:buChar char="•"/>
            </a:pPr>
            <a:r>
              <a:rPr sz="1300" b="0" i="0">
                <a:solidFill>
                  <a:srgbClr val="14142B"/>
                </a:solidFill>
                <a:latin typeface="Calibri"/>
              </a:rPr>
              <a:t>Every kit guess sits in one adapter file, tagged ASSUMPTION with its unknown number.</a:t>
            </a:r>
          </a:p>
        </p:txBody>
      </p:sp>
      <p:sp>
        <p:nvSpPr>
          <p:cNvPr id="14" name="TextBox 13"/>
          <p:cNvSpPr txBox="1"/>
          <p:nvPr/>
        </p:nvSpPr>
        <p:spPr>
          <a:xfrm>
            <a:off x="6263640" y="3657600"/>
            <a:ext cx="5029200" cy="274320"/>
          </a:xfrm>
          <a:prstGeom prst="rect">
            <a:avLst/>
          </a:prstGeom>
          <a:noFill/>
        </p:spPr>
        <p:txBody>
          <a:bodyPr wrap="square" lIns="0" rIns="0" tIns="0" bIns="0" anchor="t"/>
          <a:lstStyle/>
          <a:p>
            <a:pPr algn="l"/>
            <a:r>
              <a:rPr sz="1100" b="1" i="0">
                <a:solidFill>
                  <a:srgbClr val="C23636"/>
                </a:solidFill>
                <a:latin typeface="Calibri"/>
              </a:rPr>
              <a:t>LIMITATIONS</a:t>
            </a:r>
          </a:p>
        </p:txBody>
      </p:sp>
      <p:sp>
        <p:nvSpPr>
          <p:cNvPr id="15" name="TextBox 14"/>
          <p:cNvSpPr txBox="1"/>
          <p:nvPr/>
        </p:nvSpPr>
        <p:spPr>
          <a:xfrm>
            <a:off x="6263640" y="3977639"/>
            <a:ext cx="5029200" cy="2468880"/>
          </a:xfrm>
          <a:prstGeom prst="rect">
            <a:avLst/>
          </a:prstGeom>
          <a:noFill/>
        </p:spPr>
        <p:txBody>
          <a:bodyPr wrap="square" lIns="0" rIns="0" tIns="0" bIns="0" anchor="t"/>
          <a:lstStyle/>
          <a:p>
            <a:pPr algn="l" marL="182880" indent="-182880">
              <a:spcAft>
                <a:spcPts val="600"/>
              </a:spcAft>
              <a:buChar char="•"/>
            </a:pPr>
            <a:r>
              <a:rPr sz="1250" b="0" i="0">
                <a:solidFill>
                  <a:srgbClr val="14142B"/>
                </a:solidFill>
                <a:latin typeface="Calibri"/>
              </a:rPr>
              <a:t>26 wire-format details are guesses until the kit ships.</a:t>
            </a:r>
          </a:p>
          <a:p>
            <a:pPr algn="l" marL="182880" indent="-182880">
              <a:spcAft>
                <a:spcPts val="600"/>
              </a:spcAft>
              <a:buChar char="•"/>
            </a:pPr>
            <a:r>
              <a:rPr sz="1250" b="0" i="0">
                <a:solidFill>
                  <a:srgbClr val="14142B"/>
                </a:solidFill>
                <a:latin typeface="Calibri"/>
              </a:rPr>
              <a:t>Self-graded, on scenarios we generated: a regression guard, not a forecast.</a:t>
            </a:r>
          </a:p>
          <a:p>
            <a:pPr algn="l" marL="182880" indent="-182880">
              <a:spcAft>
                <a:spcPts val="600"/>
              </a:spcAft>
              <a:buChar char="•"/>
            </a:pPr>
            <a:r>
              <a:rPr sz="1250" b="0" i="0">
                <a:solidFill>
                  <a:srgbClr val="14142B"/>
                </a:solidFill>
                <a:latin typeface="Calibri"/>
              </a:rPr>
              <a:t>Default perception trusts kit transcripts and labels. With those removed and no models loaded, the suite drops to 78.2 (audio 54.7). Whisper and OCR are built and tested but not on by default.</a:t>
            </a:r>
          </a:p>
          <a:p>
            <a:pPr algn="l" marL="182880" indent="-182880">
              <a:spcAft>
                <a:spcPts val="600"/>
              </a:spcAft>
              <a:buChar char="•"/>
            </a:pPr>
            <a:r>
              <a:rPr sz="1250" b="0" i="0">
                <a:solidFill>
                  <a:srgbClr val="14142B"/>
                </a:solidFill>
                <a:latin typeface="Calibri"/>
              </a:rPr>
              <a:t>Test audio and frames are synthetic. English only.</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36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TextBox 2"/>
          <p:cNvSpPr txBox="1"/>
          <p:nvPr/>
        </p:nvSpPr>
        <p:spPr>
          <a:xfrm>
            <a:off x="868680" y="1645920"/>
            <a:ext cx="10424160" cy="457200"/>
          </a:xfrm>
          <a:prstGeom prst="rect">
            <a:avLst/>
          </a:prstGeom>
          <a:noFill/>
        </p:spPr>
        <p:txBody>
          <a:bodyPr wrap="square" lIns="0" rIns="0" tIns="0" bIns="0" anchor="t"/>
          <a:lstStyle/>
          <a:p>
            <a:pPr algn="l"/>
            <a:r>
              <a:rPr sz="1600" b="1" i="0">
                <a:solidFill>
                  <a:srgbClr val="6D28D9"/>
                </a:solidFill>
                <a:latin typeface="Calibri"/>
              </a:rPr>
              <a:t>Worklet: </a:t>
            </a:r>
            <a:r>
              <a:rPr sz="1600" b="1" i="0">
                <a:solidFill>
                  <a:srgbClr val="14142B"/>
                </a:solidFill>
                <a:latin typeface="Calibri"/>
              </a:rPr>
              <a:t>a kit-conformant, learning-assisted interruptible agent for on-device assistants.</a:t>
            </a:r>
          </a:p>
        </p:txBody>
      </p:sp>
      <p:cxnSp>
        <p:nvCxnSpPr>
          <p:cNvPr id="4" name="Connector 3"/>
          <p:cNvCxnSpPr/>
          <p:nvPr/>
        </p:nvCxnSpPr>
        <p:spPr>
          <a:xfrm>
            <a:off x="1097280" y="2606040"/>
            <a:ext cx="9966960" cy="0"/>
          </a:xfrm>
          <a:prstGeom prst="line">
            <a:avLst/>
          </a:prstGeom>
          <a:ln w="38100">
            <a:solidFill>
              <a:srgbClr val="D9D3F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2395728"/>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libri"/>
              </a:rPr>
              <a:t>•</a:t>
            </a:r>
          </a:p>
        </p:txBody>
      </p:sp>
      <p:sp>
        <p:nvSpPr>
          <p:cNvPr id="6" name="TextBox 5"/>
          <p:cNvSpPr txBox="1"/>
          <p:nvPr/>
        </p:nvSpPr>
        <p:spPr>
          <a:xfrm>
            <a:off x="868680" y="2971800"/>
            <a:ext cx="2496312" cy="274320"/>
          </a:xfrm>
          <a:prstGeom prst="rect">
            <a:avLst/>
          </a:prstGeom>
          <a:noFill/>
        </p:spPr>
        <p:txBody>
          <a:bodyPr wrap="square" lIns="0" rIns="0" tIns="0" bIns="0" anchor="t"/>
          <a:lstStyle/>
          <a:p>
            <a:pPr algn="l"/>
            <a:r>
              <a:rPr sz="1100" b="1" i="0">
                <a:solidFill>
                  <a:srgbClr val="6D28D9"/>
                </a:solidFill>
                <a:latin typeface="Calibri"/>
              </a:rPr>
              <a:t>NOW</a:t>
            </a:r>
          </a:p>
        </p:txBody>
      </p:sp>
      <p:sp>
        <p:nvSpPr>
          <p:cNvPr id="7" name="TextBox 6"/>
          <p:cNvSpPr txBox="1"/>
          <p:nvPr/>
        </p:nvSpPr>
        <p:spPr>
          <a:xfrm>
            <a:off x="868680" y="3246120"/>
            <a:ext cx="2496312" cy="411480"/>
          </a:xfrm>
          <a:prstGeom prst="rect">
            <a:avLst/>
          </a:prstGeom>
          <a:noFill/>
        </p:spPr>
        <p:txBody>
          <a:bodyPr wrap="square" lIns="0" rIns="0" tIns="0" bIns="0" anchor="t"/>
          <a:lstStyle/>
          <a:p>
            <a:pPr algn="l"/>
            <a:r>
              <a:rPr sz="1600" b="1" i="0">
                <a:solidFill>
                  <a:srgbClr val="14142B"/>
                </a:solidFill>
                <a:latin typeface="Calibri"/>
              </a:rPr>
              <a:t>When the kit ships</a:t>
            </a:r>
          </a:p>
        </p:txBody>
      </p:sp>
      <p:sp>
        <p:nvSpPr>
          <p:cNvPr id="8" name="TextBox 7"/>
          <p:cNvSpPr txBox="1"/>
          <p:nvPr/>
        </p:nvSpPr>
        <p:spPr>
          <a:xfrm>
            <a:off x="868680" y="3749039"/>
            <a:ext cx="2377440" cy="2011680"/>
          </a:xfrm>
          <a:prstGeom prst="rect">
            <a:avLst/>
          </a:prstGeom>
          <a:noFill/>
        </p:spPr>
        <p:txBody>
          <a:bodyPr wrap="square" lIns="0" rIns="0" tIns="0" bIns="0" anchor="t"/>
          <a:lstStyle/>
          <a:p>
            <a:pPr algn="l" marL="182880" indent="-182880">
              <a:spcAft>
                <a:spcPts val="600"/>
              </a:spcAft>
              <a:buChar char="•"/>
            </a:pPr>
            <a:r>
              <a:rPr sz="1250" b="0" i="0">
                <a:solidFill>
                  <a:srgbClr val="14142B"/>
                </a:solidFill>
                <a:latin typeface="Calibri"/>
              </a:rPr>
              <a:t>Fill protocol.py from the real schema</a:t>
            </a:r>
          </a:p>
          <a:p>
            <a:pPr algn="l" marL="182880" indent="-182880">
              <a:spcAft>
                <a:spcPts val="600"/>
              </a:spcAft>
              <a:buChar char="•"/>
            </a:pPr>
            <a:r>
              <a:rPr sz="1250" b="0" i="0">
                <a:solidFill>
                  <a:srgbClr val="14142B"/>
                </a:solidFill>
                <a:latin typeface="Calibri"/>
              </a:rPr>
              <a:t>Full Safety &amp; Protocol on the 9 public scenarios</a:t>
            </a:r>
          </a:p>
          <a:p>
            <a:pPr algn="l" marL="182880" indent="-182880">
              <a:spcAft>
                <a:spcPts val="600"/>
              </a:spcAft>
              <a:buChar char="•"/>
            </a:pPr>
            <a:r>
              <a:rPr sz="1250" b="0" i="0">
                <a:solidFill>
                  <a:srgbClr val="14142B"/>
                </a:solidFill>
                <a:latin typeface="Calibri"/>
              </a:rPr>
              <a:t>Turn Whisper and OCR on by default</a:t>
            </a:r>
          </a:p>
        </p:txBody>
      </p:sp>
      <p:sp>
        <p:nvSpPr>
          <p:cNvPr id="9" name="Oval 8"/>
          <p:cNvSpPr/>
          <p:nvPr/>
        </p:nvSpPr>
        <p:spPr>
          <a:xfrm>
            <a:off x="3593591" y="2395728"/>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libri"/>
              </a:rPr>
              <a:t>1</a:t>
            </a:r>
          </a:p>
        </p:txBody>
      </p:sp>
      <p:sp>
        <p:nvSpPr>
          <p:cNvPr id="10" name="TextBox 9"/>
          <p:cNvSpPr txBox="1"/>
          <p:nvPr/>
        </p:nvSpPr>
        <p:spPr>
          <a:xfrm>
            <a:off x="3547872" y="2971800"/>
            <a:ext cx="2496312" cy="274320"/>
          </a:xfrm>
          <a:prstGeom prst="rect">
            <a:avLst/>
          </a:prstGeom>
          <a:noFill/>
        </p:spPr>
        <p:txBody>
          <a:bodyPr wrap="square" lIns="0" rIns="0" tIns="0" bIns="0" anchor="t"/>
          <a:lstStyle/>
          <a:p>
            <a:pPr algn="l"/>
            <a:r>
              <a:rPr sz="1100" b="1" i="0">
                <a:solidFill>
                  <a:srgbClr val="6D28D9"/>
                </a:solidFill>
                <a:latin typeface="Calibri"/>
              </a:rPr>
              <a:t>MONTH 1</a:t>
            </a:r>
          </a:p>
        </p:txBody>
      </p:sp>
      <p:sp>
        <p:nvSpPr>
          <p:cNvPr id="11" name="TextBox 10"/>
          <p:cNvSpPr txBox="1"/>
          <p:nvPr/>
        </p:nvSpPr>
        <p:spPr>
          <a:xfrm>
            <a:off x="3547872" y="3246120"/>
            <a:ext cx="2496312" cy="411480"/>
          </a:xfrm>
          <a:prstGeom prst="rect">
            <a:avLst/>
          </a:prstGeom>
          <a:noFill/>
        </p:spPr>
        <p:txBody>
          <a:bodyPr wrap="square" lIns="0" rIns="0" tIns="0" bIns="0" anchor="t"/>
          <a:lstStyle/>
          <a:p>
            <a:pPr algn="l"/>
            <a:r>
              <a:rPr sz="1600" b="1" i="0">
                <a:solidFill>
                  <a:srgbClr val="14142B"/>
                </a:solidFill>
                <a:latin typeface="Calibri"/>
              </a:rPr>
              <a:t>Conformance</a:t>
            </a:r>
          </a:p>
        </p:txBody>
      </p:sp>
      <p:sp>
        <p:nvSpPr>
          <p:cNvPr id="12" name="TextBox 11"/>
          <p:cNvSpPr txBox="1"/>
          <p:nvPr/>
        </p:nvSpPr>
        <p:spPr>
          <a:xfrm>
            <a:off x="3547872" y="3749039"/>
            <a:ext cx="2377440" cy="2011680"/>
          </a:xfrm>
          <a:prstGeom prst="rect">
            <a:avLst/>
          </a:prstGeom>
          <a:noFill/>
        </p:spPr>
        <p:txBody>
          <a:bodyPr wrap="square" lIns="0" rIns="0" tIns="0" bIns="0" anchor="t"/>
          <a:lstStyle/>
          <a:p>
            <a:pPr algn="l" marL="182880" indent="-182880">
              <a:spcAft>
                <a:spcPts val="600"/>
              </a:spcAft>
              <a:buChar char="•"/>
            </a:pPr>
            <a:r>
              <a:rPr sz="1250" b="0" i="0">
                <a:solidFill>
                  <a:srgbClr val="14142B"/>
                </a:solidFill>
                <a:latin typeface="Calibri"/>
              </a:rPr>
              <a:t>Kit-verified per-scenario scores</a:t>
            </a:r>
          </a:p>
          <a:p>
            <a:pPr algn="l" marL="182880" indent="-182880">
              <a:spcAft>
                <a:spcPts val="600"/>
              </a:spcAft>
              <a:buChar char="•"/>
            </a:pPr>
            <a:r>
              <a:rPr sz="1250" b="0" i="0">
                <a:solidFill>
                  <a:srgbClr val="14142B"/>
                </a:solidFill>
                <a:latin typeface="Calibri"/>
              </a:rPr>
              <a:t>Profiling budgets and fuzzing as CI gates</a:t>
            </a:r>
          </a:p>
        </p:txBody>
      </p:sp>
      <p:sp>
        <p:nvSpPr>
          <p:cNvPr id="13" name="Oval 12"/>
          <p:cNvSpPr/>
          <p:nvPr/>
        </p:nvSpPr>
        <p:spPr>
          <a:xfrm>
            <a:off x="6272784" y="2395728"/>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libri"/>
              </a:rPr>
              <a:t>2</a:t>
            </a:r>
          </a:p>
        </p:txBody>
      </p:sp>
      <p:sp>
        <p:nvSpPr>
          <p:cNvPr id="14" name="TextBox 13"/>
          <p:cNvSpPr txBox="1"/>
          <p:nvPr/>
        </p:nvSpPr>
        <p:spPr>
          <a:xfrm>
            <a:off x="6227064" y="2971800"/>
            <a:ext cx="2496312" cy="274320"/>
          </a:xfrm>
          <a:prstGeom prst="rect">
            <a:avLst/>
          </a:prstGeom>
          <a:noFill/>
        </p:spPr>
        <p:txBody>
          <a:bodyPr wrap="square" lIns="0" rIns="0" tIns="0" bIns="0" anchor="t"/>
          <a:lstStyle/>
          <a:p>
            <a:pPr algn="l"/>
            <a:r>
              <a:rPr sz="1100" b="1" i="0">
                <a:solidFill>
                  <a:srgbClr val="6D28D9"/>
                </a:solidFill>
                <a:latin typeface="Calibri"/>
              </a:rPr>
              <a:t>MONTH 2</a:t>
            </a:r>
          </a:p>
        </p:txBody>
      </p:sp>
      <p:sp>
        <p:nvSpPr>
          <p:cNvPr id="15" name="TextBox 14"/>
          <p:cNvSpPr txBox="1"/>
          <p:nvPr/>
        </p:nvSpPr>
        <p:spPr>
          <a:xfrm>
            <a:off x="6227064" y="3246120"/>
            <a:ext cx="2496312" cy="411480"/>
          </a:xfrm>
          <a:prstGeom prst="rect">
            <a:avLst/>
          </a:prstGeom>
          <a:noFill/>
        </p:spPr>
        <p:txBody>
          <a:bodyPr wrap="square" lIns="0" rIns="0" tIns="0" bIns="0" anchor="t"/>
          <a:lstStyle/>
          <a:p>
            <a:pPr algn="l"/>
            <a:r>
              <a:rPr sz="1600" b="1" i="0">
                <a:solidFill>
                  <a:srgbClr val="14142B"/>
                </a:solidFill>
                <a:latin typeface="Calibri"/>
              </a:rPr>
              <a:t>On-device understanding</a:t>
            </a:r>
          </a:p>
        </p:txBody>
      </p:sp>
      <p:sp>
        <p:nvSpPr>
          <p:cNvPr id="16" name="TextBox 15"/>
          <p:cNvSpPr txBox="1"/>
          <p:nvPr/>
        </p:nvSpPr>
        <p:spPr>
          <a:xfrm>
            <a:off x="6227064" y="3749039"/>
            <a:ext cx="2377440" cy="2011680"/>
          </a:xfrm>
          <a:prstGeom prst="rect">
            <a:avLst/>
          </a:prstGeom>
          <a:noFill/>
        </p:spPr>
        <p:txBody>
          <a:bodyPr wrap="square" lIns="0" rIns="0" tIns="0" bIns="0" anchor="t"/>
          <a:lstStyle/>
          <a:p>
            <a:pPr algn="l" marL="182880" indent="-182880">
              <a:spcAft>
                <a:spcPts val="600"/>
              </a:spcAft>
              <a:buChar char="•"/>
            </a:pPr>
            <a:r>
              <a:rPr sz="1250" b="0" i="0">
                <a:solidFill>
                  <a:srgbClr val="14142B"/>
                </a:solidFill>
                <a:latin typeface="Calibri"/>
              </a:rPr>
              <a:t>Distilled intent/slot model under 50 MB behind the plug-in</a:t>
            </a:r>
          </a:p>
          <a:p>
            <a:pPr algn="l" marL="182880" indent="-182880">
              <a:spcAft>
                <a:spcPts val="600"/>
              </a:spcAft>
              <a:buChar char="•"/>
            </a:pPr>
            <a:r>
              <a:rPr sz="1250" b="0" i="0">
                <a:solidFill>
                  <a:srgbClr val="14142B"/>
                </a:solidFill>
                <a:latin typeface="Calibri"/>
              </a:rPr>
              <a:t>Streaming ASR feeding speculative reads</a:t>
            </a:r>
          </a:p>
        </p:txBody>
      </p:sp>
      <p:sp>
        <p:nvSpPr>
          <p:cNvPr id="17" name="Oval 16"/>
          <p:cNvSpPr/>
          <p:nvPr/>
        </p:nvSpPr>
        <p:spPr>
          <a:xfrm>
            <a:off x="8951976" y="2395728"/>
            <a:ext cx="420624" cy="4206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libri"/>
              </a:rPr>
              <a:t>3</a:t>
            </a:r>
          </a:p>
        </p:txBody>
      </p:sp>
      <p:sp>
        <p:nvSpPr>
          <p:cNvPr id="18" name="TextBox 17"/>
          <p:cNvSpPr txBox="1"/>
          <p:nvPr/>
        </p:nvSpPr>
        <p:spPr>
          <a:xfrm>
            <a:off x="8906256" y="2971800"/>
            <a:ext cx="2496312" cy="274320"/>
          </a:xfrm>
          <a:prstGeom prst="rect">
            <a:avLst/>
          </a:prstGeom>
          <a:noFill/>
        </p:spPr>
        <p:txBody>
          <a:bodyPr wrap="square" lIns="0" rIns="0" tIns="0" bIns="0" anchor="t"/>
          <a:lstStyle/>
          <a:p>
            <a:pPr algn="l"/>
            <a:r>
              <a:rPr sz="1100" b="1" i="0">
                <a:solidFill>
                  <a:srgbClr val="6D28D9"/>
                </a:solidFill>
                <a:latin typeface="Calibri"/>
              </a:rPr>
              <a:t>MONTH 3</a:t>
            </a:r>
          </a:p>
        </p:txBody>
      </p:sp>
      <p:sp>
        <p:nvSpPr>
          <p:cNvPr id="19" name="TextBox 18"/>
          <p:cNvSpPr txBox="1"/>
          <p:nvPr/>
        </p:nvSpPr>
        <p:spPr>
          <a:xfrm>
            <a:off x="8906256" y="3246120"/>
            <a:ext cx="2496312" cy="411480"/>
          </a:xfrm>
          <a:prstGeom prst="rect">
            <a:avLst/>
          </a:prstGeom>
          <a:noFill/>
        </p:spPr>
        <p:txBody>
          <a:bodyPr wrap="square" lIns="0" rIns="0" tIns="0" bIns="0" anchor="t"/>
          <a:lstStyle/>
          <a:p>
            <a:pPr algn="l"/>
            <a:r>
              <a:rPr sz="1600" b="1" i="0">
                <a:solidFill>
                  <a:srgbClr val="14142B"/>
                </a:solidFill>
                <a:latin typeface="Calibri"/>
              </a:rPr>
              <a:t>Vision and evaluation</a:t>
            </a:r>
          </a:p>
        </p:txBody>
      </p:sp>
      <p:sp>
        <p:nvSpPr>
          <p:cNvPr id="20" name="TextBox 19"/>
          <p:cNvSpPr txBox="1"/>
          <p:nvPr/>
        </p:nvSpPr>
        <p:spPr>
          <a:xfrm>
            <a:off x="8906256" y="3749039"/>
            <a:ext cx="2377440" cy="2011680"/>
          </a:xfrm>
          <a:prstGeom prst="rect">
            <a:avLst/>
          </a:prstGeom>
          <a:noFill/>
        </p:spPr>
        <p:txBody>
          <a:bodyPr wrap="square" lIns="0" rIns="0" tIns="0" bIns="0" anchor="t"/>
          <a:lstStyle/>
          <a:p>
            <a:pPr algn="l" marL="182880" indent="-182880">
              <a:spcAft>
                <a:spcPts val="600"/>
              </a:spcAft>
              <a:buChar char="•"/>
            </a:pPr>
            <a:r>
              <a:rPr sz="1250" b="0" i="0">
                <a:solidFill>
                  <a:srgbClr val="14142B"/>
                </a:solidFill>
                <a:latin typeface="Calibri"/>
              </a:rPr>
              <a:t>Appliance and part detection for manual lookups</a:t>
            </a:r>
          </a:p>
          <a:p>
            <a:pPr algn="l" marL="182880" indent="-182880">
              <a:spcAft>
                <a:spcPts val="600"/>
              </a:spcAft>
              <a:buChar char="•"/>
            </a:pPr>
            <a:r>
              <a:rPr sz="1250" b="0" i="0">
                <a:solidFill>
                  <a:srgbClr val="14142B"/>
                </a:solidFill>
                <a:latin typeface="Calibri"/>
              </a:rPr>
              <a:t>Evaluation on kit + our bench, write-up</a:t>
            </a:r>
          </a:p>
        </p:txBody>
      </p:sp>
      <p:sp>
        <p:nvSpPr>
          <p:cNvPr id="21" name="Rounded Rectangle 20"/>
          <p:cNvSpPr/>
          <p:nvPr/>
        </p:nvSpPr>
        <p:spPr>
          <a:xfrm>
            <a:off x="868680" y="5577840"/>
            <a:ext cx="10442448" cy="73152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97280" y="5596128"/>
            <a:ext cx="10058400" cy="694944"/>
          </a:xfrm>
          <a:prstGeom prst="rect">
            <a:avLst/>
          </a:prstGeom>
          <a:noFill/>
        </p:spPr>
        <p:txBody>
          <a:bodyPr wrap="square" lIns="0" rIns="0" tIns="0" bIns="0" anchor="ctr"/>
          <a:lstStyle/>
          <a:p>
            <a:pPr algn="l"/>
            <a:r>
              <a:rPr sz="1300" b="1" i="0">
                <a:solidFill>
                  <a:srgbClr val="6D28D9"/>
                </a:solidFill>
                <a:latin typeface="Calibri"/>
              </a:rPr>
              <a:t>The rule stays: </a:t>
            </a:r>
            <a:r>
              <a:rPr sz="1300" b="0" i="0">
                <a:solidFill>
                  <a:srgbClr val="14142B"/>
                </a:solidFill>
                <a:latin typeface="Calibri"/>
              </a:rPr>
              <a:t>every new model is a plug-in with a timeout and a rule fallback, and the first action stays synchronous.</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36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Rounded Rectangle 2"/>
          <p:cNvSpPr/>
          <p:nvPr/>
        </p:nvSpPr>
        <p:spPr>
          <a:xfrm>
            <a:off x="868680" y="1691640"/>
            <a:ext cx="3355848" cy="210312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069848" y="1892808"/>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1</a:t>
            </a:r>
          </a:p>
        </p:txBody>
      </p:sp>
      <p:sp>
        <p:nvSpPr>
          <p:cNvPr id="5" name="TextBox 4"/>
          <p:cNvSpPr txBox="1"/>
          <p:nvPr/>
        </p:nvSpPr>
        <p:spPr>
          <a:xfrm>
            <a:off x="1069848" y="2423160"/>
            <a:ext cx="2971800" cy="365760"/>
          </a:xfrm>
          <a:prstGeom prst="rect">
            <a:avLst/>
          </a:prstGeom>
          <a:noFill/>
        </p:spPr>
        <p:txBody>
          <a:bodyPr wrap="square" lIns="0" rIns="0" tIns="0" bIns="0" anchor="t"/>
          <a:lstStyle/>
          <a:p>
            <a:pPr algn="l"/>
            <a:r>
              <a:rPr sz="1600" b="1" i="0">
                <a:solidFill>
                  <a:srgbClr val="14142B"/>
                </a:solidFill>
                <a:latin typeface="Calibri"/>
              </a:rPr>
              <a:t>Replay any session</a:t>
            </a:r>
          </a:p>
        </p:txBody>
      </p:sp>
      <p:sp>
        <p:nvSpPr>
          <p:cNvPr id="6" name="TextBox 5"/>
          <p:cNvSpPr txBox="1"/>
          <p:nvPr/>
        </p:nvSpPr>
        <p:spPr>
          <a:xfrm>
            <a:off x="1069848" y="2807208"/>
            <a:ext cx="2971800" cy="914400"/>
          </a:xfrm>
          <a:prstGeom prst="rect">
            <a:avLst/>
          </a:prstGeom>
          <a:noFill/>
        </p:spPr>
        <p:txBody>
          <a:bodyPr wrap="square" lIns="0" rIns="0" tIns="0" bIns="0" anchor="t"/>
          <a:lstStyle/>
          <a:p>
            <a:pPr algn="l"/>
            <a:r>
              <a:rPr sz="1200" b="0" i="0">
                <a:solidFill>
                  <a:srgbClr val="63637E"/>
                </a:solidFill>
                <a:latin typeface="Calibri"/>
              </a:rPr>
              <a:t>A single-file trace viewer plays a run on the virtual clock: calls, cancels, stale results, snapshots.</a:t>
            </a:r>
          </a:p>
        </p:txBody>
      </p:sp>
      <p:sp>
        <p:nvSpPr>
          <p:cNvPr id="7" name="Rounded Rectangle 6"/>
          <p:cNvSpPr/>
          <p:nvPr/>
        </p:nvSpPr>
        <p:spPr>
          <a:xfrm>
            <a:off x="4407408" y="1691640"/>
            <a:ext cx="3355848" cy="210312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608576" y="1892808"/>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2</a:t>
            </a:r>
          </a:p>
        </p:txBody>
      </p:sp>
      <p:sp>
        <p:nvSpPr>
          <p:cNvPr id="9" name="TextBox 8"/>
          <p:cNvSpPr txBox="1"/>
          <p:nvPr/>
        </p:nvSpPr>
        <p:spPr>
          <a:xfrm>
            <a:off x="4608576" y="2423160"/>
            <a:ext cx="2971800" cy="365760"/>
          </a:xfrm>
          <a:prstGeom prst="rect">
            <a:avLst/>
          </a:prstGeom>
          <a:noFill/>
        </p:spPr>
        <p:txBody>
          <a:bodyPr wrap="square" lIns="0" rIns="0" tIns="0" bIns="0" anchor="t"/>
          <a:lstStyle/>
          <a:p>
            <a:pPr algn="l"/>
            <a:r>
              <a:rPr sz="1600" b="1" i="0">
                <a:solidFill>
                  <a:srgbClr val="14142B"/>
                </a:solidFill>
                <a:latin typeface="Calibri"/>
              </a:rPr>
              <a:t>Never times out silently</a:t>
            </a:r>
          </a:p>
        </p:txBody>
      </p:sp>
      <p:sp>
        <p:nvSpPr>
          <p:cNvPr id="10" name="TextBox 9"/>
          <p:cNvSpPr txBox="1"/>
          <p:nvPr/>
        </p:nvSpPr>
        <p:spPr>
          <a:xfrm>
            <a:off x="4608576" y="2807208"/>
            <a:ext cx="2971800" cy="914400"/>
          </a:xfrm>
          <a:prstGeom prst="rect">
            <a:avLst/>
          </a:prstGeom>
          <a:noFill/>
        </p:spPr>
        <p:txBody>
          <a:bodyPr wrap="square" lIns="0" rIns="0" tIns="0" bIns="0" anchor="t"/>
          <a:lstStyle/>
          <a:p>
            <a:pPr algn="l"/>
            <a:r>
              <a:rPr sz="1200" b="0" i="0">
                <a:solidFill>
                  <a:srgbClr val="63637E"/>
                </a:solidFill>
                <a:latin typeface="Calibri"/>
              </a:rPr>
              <a:t>A watchdog at 110 s cancels open work and gives one honest answer with a valid snapshot.</a:t>
            </a:r>
          </a:p>
        </p:txBody>
      </p:sp>
      <p:sp>
        <p:nvSpPr>
          <p:cNvPr id="11" name="Rounded Rectangle 10"/>
          <p:cNvSpPr/>
          <p:nvPr/>
        </p:nvSpPr>
        <p:spPr>
          <a:xfrm>
            <a:off x="7946136" y="1691640"/>
            <a:ext cx="3355848" cy="210312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147304" y="1892808"/>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3</a:t>
            </a:r>
          </a:p>
        </p:txBody>
      </p:sp>
      <p:sp>
        <p:nvSpPr>
          <p:cNvPr id="13" name="TextBox 12"/>
          <p:cNvSpPr txBox="1"/>
          <p:nvPr/>
        </p:nvSpPr>
        <p:spPr>
          <a:xfrm>
            <a:off x="8147304" y="2423160"/>
            <a:ext cx="2971800" cy="365760"/>
          </a:xfrm>
          <a:prstGeom prst="rect">
            <a:avLst/>
          </a:prstGeom>
          <a:noFill/>
        </p:spPr>
        <p:txBody>
          <a:bodyPr wrap="square" lIns="0" rIns="0" tIns="0" bIns="0" anchor="t"/>
          <a:lstStyle/>
          <a:p>
            <a:pPr algn="l"/>
            <a:r>
              <a:rPr sz="1600" b="1" i="0">
                <a:solidFill>
                  <a:srgbClr val="14142B"/>
                </a:solidFill>
                <a:latin typeface="Calibri"/>
              </a:rPr>
              <a:t>Adversarial bench</a:t>
            </a:r>
          </a:p>
        </p:txBody>
      </p:sp>
      <p:sp>
        <p:nvSpPr>
          <p:cNvPr id="14" name="TextBox 13"/>
          <p:cNvSpPr txBox="1"/>
          <p:nvPr/>
        </p:nvSpPr>
        <p:spPr>
          <a:xfrm>
            <a:off x="8147304" y="2807208"/>
            <a:ext cx="2971800" cy="914400"/>
          </a:xfrm>
          <a:prstGeom prst="rect">
            <a:avLst/>
          </a:prstGeom>
          <a:noFill/>
        </p:spPr>
        <p:txBody>
          <a:bodyPr wrap="square" lIns="0" rIns="0" tIns="0" bIns="0" anchor="t"/>
          <a:lstStyle/>
          <a:p>
            <a:pPr algn="l"/>
            <a:r>
              <a:rPr sz="1200" b="0" i="0">
                <a:solidFill>
                  <a:srgbClr val="63637E"/>
                </a:solidFill>
                <a:latin typeface="Calibri"/>
              </a:rPr>
              <a:t>60 scenarios in 13 families (30 text, 18 audio, 12 visual), scored in about a second.</a:t>
            </a:r>
          </a:p>
        </p:txBody>
      </p:sp>
      <p:sp>
        <p:nvSpPr>
          <p:cNvPr id="15" name="Rounded Rectangle 14"/>
          <p:cNvSpPr/>
          <p:nvPr/>
        </p:nvSpPr>
        <p:spPr>
          <a:xfrm>
            <a:off x="868680" y="3977639"/>
            <a:ext cx="3355848" cy="210312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069848" y="4178807"/>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4</a:t>
            </a:r>
          </a:p>
        </p:txBody>
      </p:sp>
      <p:sp>
        <p:nvSpPr>
          <p:cNvPr id="17" name="TextBox 16"/>
          <p:cNvSpPr txBox="1"/>
          <p:nvPr/>
        </p:nvSpPr>
        <p:spPr>
          <a:xfrm>
            <a:off x="1069848" y="4709159"/>
            <a:ext cx="2971800" cy="365760"/>
          </a:xfrm>
          <a:prstGeom prst="rect">
            <a:avLst/>
          </a:prstGeom>
          <a:noFill/>
        </p:spPr>
        <p:txBody>
          <a:bodyPr wrap="square" lIns="0" rIns="0" tIns="0" bIns="0" anchor="t"/>
          <a:lstStyle/>
          <a:p>
            <a:pPr algn="l"/>
            <a:r>
              <a:rPr sz="1600" b="1" i="0">
                <a:solidFill>
                  <a:srgbClr val="14142B"/>
                </a:solidFill>
                <a:latin typeface="Calibri"/>
              </a:rPr>
              <a:t>Ask, don't guess</a:t>
            </a:r>
          </a:p>
        </p:txBody>
      </p:sp>
      <p:sp>
        <p:nvSpPr>
          <p:cNvPr id="18" name="TextBox 17"/>
          <p:cNvSpPr txBox="1"/>
          <p:nvPr/>
        </p:nvSpPr>
        <p:spPr>
          <a:xfrm>
            <a:off x="1069848" y="5093207"/>
            <a:ext cx="2971800" cy="914400"/>
          </a:xfrm>
          <a:prstGeom prst="rect">
            <a:avLst/>
          </a:prstGeom>
          <a:noFill/>
        </p:spPr>
        <p:txBody>
          <a:bodyPr wrap="square" lIns="0" rIns="0" tIns="0" bIns="0" anchor="t"/>
          <a:lstStyle/>
          <a:p>
            <a:pPr algn="l"/>
            <a:r>
              <a:rPr sz="1200" b="0" i="0">
                <a:solidFill>
                  <a:srgbClr val="63637E"/>
                </a:solidFill>
                <a:latin typeface="Calibri"/>
              </a:rPr>
              <a:t>Low ASR confidence, dark or ambiguous frames and missing parameters get one targeted question.</a:t>
            </a:r>
          </a:p>
        </p:txBody>
      </p:sp>
      <p:sp>
        <p:nvSpPr>
          <p:cNvPr id="19" name="Rounded Rectangle 18"/>
          <p:cNvSpPr/>
          <p:nvPr/>
        </p:nvSpPr>
        <p:spPr>
          <a:xfrm>
            <a:off x="4407408" y="3977639"/>
            <a:ext cx="3355848" cy="2103120"/>
          </a:xfrm>
          <a:prstGeom prst="roundRect">
            <a:avLst>
              <a:gd name="adj" fmla="val 8000"/>
            </a:avLst>
          </a:prstGeom>
          <a:solidFill>
            <a:srgbClr val="F3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608576" y="4178807"/>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5</a:t>
            </a:r>
          </a:p>
        </p:txBody>
      </p:sp>
      <p:sp>
        <p:nvSpPr>
          <p:cNvPr id="21" name="TextBox 20"/>
          <p:cNvSpPr txBox="1"/>
          <p:nvPr/>
        </p:nvSpPr>
        <p:spPr>
          <a:xfrm>
            <a:off x="4608576" y="4709159"/>
            <a:ext cx="2971800" cy="365760"/>
          </a:xfrm>
          <a:prstGeom prst="rect">
            <a:avLst/>
          </a:prstGeom>
          <a:noFill/>
        </p:spPr>
        <p:txBody>
          <a:bodyPr wrap="square" lIns="0" rIns="0" tIns="0" bIns="0" anchor="t"/>
          <a:lstStyle/>
          <a:p>
            <a:pPr algn="l"/>
            <a:r>
              <a:rPr sz="1600" b="1" i="0">
                <a:solidFill>
                  <a:srgbClr val="14142B"/>
                </a:solidFill>
                <a:latin typeface="Calibri"/>
              </a:rPr>
              <a:t>Unseen tools</a:t>
            </a:r>
          </a:p>
        </p:txBody>
      </p:sp>
      <p:sp>
        <p:nvSpPr>
          <p:cNvPr id="22" name="TextBox 21"/>
          <p:cNvSpPr txBox="1"/>
          <p:nvPr/>
        </p:nvSpPr>
        <p:spPr>
          <a:xfrm>
            <a:off x="4608576" y="5093207"/>
            <a:ext cx="2971800" cy="914400"/>
          </a:xfrm>
          <a:prstGeom prst="rect">
            <a:avLst/>
          </a:prstGeom>
          <a:noFill/>
        </p:spPr>
        <p:txBody>
          <a:bodyPr wrap="square" lIns="0" rIns="0" tIns="0" bIns="0" anchor="t"/>
          <a:lstStyle/>
          <a:p>
            <a:pPr algn="l"/>
            <a:r>
              <a:rPr sz="1200" b="0" i="0">
                <a:solidFill>
                  <a:srgbClr val="63637E"/>
                </a:solidFill>
                <a:latin typeface="Calibri"/>
              </a:rPr>
              <a:t>The planner reads any manifest and binds arguments by name, type and enum; unmarked tools are treated as writes.</a:t>
            </a:r>
          </a:p>
        </p:txBody>
      </p:sp>
      <p:sp>
        <p:nvSpPr>
          <p:cNvPr id="23" name="Rounded Rectangle 22"/>
          <p:cNvSpPr/>
          <p:nvPr/>
        </p:nvSpPr>
        <p:spPr>
          <a:xfrm>
            <a:off x="7946136" y="3977639"/>
            <a:ext cx="3355848" cy="210312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147304" y="4178807"/>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6</a:t>
            </a:r>
          </a:p>
        </p:txBody>
      </p:sp>
      <p:sp>
        <p:nvSpPr>
          <p:cNvPr id="25" name="TextBox 24"/>
          <p:cNvSpPr txBox="1"/>
          <p:nvPr/>
        </p:nvSpPr>
        <p:spPr>
          <a:xfrm>
            <a:off x="8147304" y="4709159"/>
            <a:ext cx="2971800" cy="365760"/>
          </a:xfrm>
          <a:prstGeom prst="rect">
            <a:avLst/>
          </a:prstGeom>
          <a:noFill/>
        </p:spPr>
        <p:txBody>
          <a:bodyPr wrap="square" lIns="0" rIns="0" tIns="0" bIns="0" anchor="t"/>
          <a:lstStyle/>
          <a:p>
            <a:pPr algn="l"/>
            <a:r>
              <a:rPr sz="1600" b="1" i="0">
                <a:solidFill>
                  <a:srgbClr val="14142B"/>
                </a:solidFill>
                <a:latin typeface="Calibri"/>
              </a:rPr>
              <a:t>Fault tolerant</a:t>
            </a:r>
          </a:p>
        </p:txBody>
      </p:sp>
      <p:sp>
        <p:nvSpPr>
          <p:cNvPr id="26" name="TextBox 25"/>
          <p:cNvSpPr txBox="1"/>
          <p:nvPr/>
        </p:nvSpPr>
        <p:spPr>
          <a:xfrm>
            <a:off x="8147304" y="5093207"/>
            <a:ext cx="2971800" cy="914400"/>
          </a:xfrm>
          <a:prstGeom prst="rect">
            <a:avLst/>
          </a:prstGeom>
          <a:noFill/>
        </p:spPr>
        <p:txBody>
          <a:bodyPr wrap="square" lIns="0" rIns="0" tIns="0" bIns="0" anchor="t"/>
          <a:lstStyle/>
          <a:p>
            <a:pPr algn="l"/>
            <a:r>
              <a:rPr sz="1200" b="0" i="0">
                <a:solidFill>
                  <a:srgbClr val="63637E"/>
                </a:solidFill>
                <a:latin typeface="Calibri"/>
              </a:rPr>
              <a:t>Retries only on retryable errors, and the ledger still blocks duplicate writes. Fuzzed with 60,000 malformed events.</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sz="360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Working prototype code — public or shared GitHub repo (Y/N): Y, github.com/pandeykartik658-del/samsung-hackathon</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README with reproducible setup instructions (Y/N): Y, plus Dockerfile and CI</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Demo video, max 5 minutes (YouTube or Drive link): [add link]</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Presentation file (PPT or PDF) (Y/N): Y</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Release tag PRISM_GENAI_HACKATHON_Y2026 on the final commit: [to do]</a:t>
            </a:r>
            <a:endParaRPr lang="en-US" sz="2800"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